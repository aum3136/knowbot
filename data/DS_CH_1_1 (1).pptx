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0"/>
  </p:notesMasterIdLst>
  <p:sldIdLst>
    <p:sldId id="368" r:id="rId2"/>
    <p:sldId id="370" r:id="rId3"/>
    <p:sldId id="371" r:id="rId4"/>
    <p:sldId id="372" r:id="rId5"/>
    <p:sldId id="373" r:id="rId6"/>
    <p:sldId id="374" r:id="rId7"/>
    <p:sldId id="375" r:id="rId8"/>
    <p:sldId id="376" r:id="rId9"/>
    <p:sldId id="377" r:id="rId10"/>
    <p:sldId id="378" r:id="rId11"/>
    <p:sldId id="259" r:id="rId12"/>
    <p:sldId id="385" r:id="rId13"/>
    <p:sldId id="386" r:id="rId14"/>
    <p:sldId id="388" r:id="rId15"/>
    <p:sldId id="379" r:id="rId16"/>
    <p:sldId id="380" r:id="rId17"/>
    <p:sldId id="381" r:id="rId18"/>
    <p:sldId id="382" r:id="rId19"/>
    <p:sldId id="383" r:id="rId20"/>
    <p:sldId id="260" r:id="rId21"/>
    <p:sldId id="261" r:id="rId22"/>
    <p:sldId id="262" r:id="rId23"/>
    <p:sldId id="267" r:id="rId24"/>
    <p:sldId id="268" r:id="rId25"/>
    <p:sldId id="269" r:id="rId26"/>
    <p:sldId id="270" r:id="rId27"/>
    <p:sldId id="271" r:id="rId28"/>
    <p:sldId id="272" r:id="rId29"/>
    <p:sldId id="273" r:id="rId30"/>
    <p:sldId id="274" r:id="rId31"/>
    <p:sldId id="275" r:id="rId32"/>
    <p:sldId id="276" r:id="rId33"/>
    <p:sldId id="277" r:id="rId34"/>
    <p:sldId id="279" r:id="rId35"/>
    <p:sldId id="278" r:id="rId36"/>
    <p:sldId id="280" r:id="rId37"/>
    <p:sldId id="281" r:id="rId38"/>
    <p:sldId id="283" r:id="rId39"/>
    <p:sldId id="284" r:id="rId40"/>
    <p:sldId id="285" r:id="rId41"/>
    <p:sldId id="286" r:id="rId42"/>
    <p:sldId id="287" r:id="rId43"/>
    <p:sldId id="389" r:id="rId44"/>
    <p:sldId id="390" r:id="rId45"/>
    <p:sldId id="391" r:id="rId46"/>
    <p:sldId id="392" r:id="rId47"/>
    <p:sldId id="288" r:id="rId48"/>
    <p:sldId id="289"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6" d="100"/>
          <a:sy n="106" d="100"/>
        </p:scale>
        <p:origin x="114" y="28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1F3522-02D1-46F9-9355-E7B0633D9F9D}" type="datetimeFigureOut">
              <a:rPr lang="en-IN" smtClean="0"/>
              <a:t>25-02-2026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3D332D-8F93-4A15-9359-3167B13A2952}" type="slidenum">
              <a:rPr lang="en-IN" smtClean="0"/>
              <a:t>‹#›</a:t>
            </a:fld>
            <a:endParaRPr lang="en-IN"/>
          </a:p>
        </p:txBody>
      </p:sp>
    </p:spTree>
    <p:extLst>
      <p:ext uri="{BB962C8B-B14F-4D97-AF65-F5344CB8AC3E}">
        <p14:creationId xmlns:p14="http://schemas.microsoft.com/office/powerpoint/2010/main" val="2406155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82600" y="1368063"/>
            <a:ext cx="11264899" cy="2141199"/>
          </a:xfrm>
        </p:spPr>
        <p:txBody>
          <a:bodyPr anchor="t">
            <a:normAutofit/>
          </a:bodyPr>
          <a:lstStyle>
            <a:lvl1pPr algn="ctr">
              <a:defRPr sz="5000" b="1">
                <a:latin typeface="Times New Roman" panose="02020603050405020304" pitchFamily="18" charset="0"/>
                <a:cs typeface="Times New Roman" panose="02020603050405020304" pitchFamily="18"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4267200" y="4219856"/>
            <a:ext cx="3670852" cy="1655762"/>
          </a:xfrm>
        </p:spPr>
        <p:txBody>
          <a:bodyPr>
            <a:normAutofit/>
          </a:bodyPr>
          <a:lstStyle>
            <a:lvl1pPr marL="0" indent="0" algn="ctr">
              <a:buNone/>
              <a:defRPr sz="20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smtClean="0"/>
              <a:t>Click to edit Master subtitle style</a:t>
            </a:r>
            <a:endParaRPr lang="en-US" dirty="0"/>
          </a:p>
        </p:txBody>
      </p:sp>
      <p:cxnSp>
        <p:nvCxnSpPr>
          <p:cNvPr id="9" name="Straight Connector 8"/>
          <p:cNvCxnSpPr/>
          <p:nvPr/>
        </p:nvCxnSpPr>
        <p:spPr>
          <a:xfrm>
            <a:off x="457199" y="3990358"/>
            <a:ext cx="11290300"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818147" y="0"/>
            <a:ext cx="10507579"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Department of Computer Science &amp; Engineering</a:t>
            </a:r>
          </a:p>
        </p:txBody>
      </p:sp>
      <p:cxnSp>
        <p:nvCxnSpPr>
          <p:cNvPr id="14" name="Straight Connector 13"/>
          <p:cNvCxnSpPr/>
          <p:nvPr/>
        </p:nvCxnSpPr>
        <p:spPr>
          <a:xfrm>
            <a:off x="-12259" y="868679"/>
            <a:ext cx="12168389" cy="18288"/>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22501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78089" y="0"/>
            <a:ext cx="10431595" cy="837236"/>
          </a:xfrm>
        </p:spPr>
        <p:txBody>
          <a:bodyPr/>
          <a:lstStyle>
            <a:lvl1pPr algn="ctr">
              <a:defRPr b="1">
                <a:latin typeface="Times New Roman" panose="02020603050405020304" pitchFamily="18" charset="0"/>
                <a:cs typeface="Times New Roman" panose="02020603050405020304" pitchFamily="18"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469900" y="1026696"/>
            <a:ext cx="11290300" cy="5268088"/>
          </a:xfrm>
        </p:spPr>
        <p:txBody>
          <a:bodyPr/>
          <a:lstStyle>
            <a:lvl1pPr algn="just">
              <a:lnSpc>
                <a:spcPct val="100000"/>
              </a:lnSpc>
              <a:defRPr>
                <a:latin typeface="Times New Roman" panose="02020603050405020304" pitchFamily="18" charset="0"/>
                <a:cs typeface="Times New Roman" panose="02020603050405020304" pitchFamily="18" charset="0"/>
              </a:defRPr>
            </a:lvl1pPr>
            <a:lvl2pPr algn="just">
              <a:lnSpc>
                <a:spcPct val="100000"/>
              </a:lnSpc>
              <a:defRPr>
                <a:latin typeface="Times New Roman" panose="02020603050405020304" pitchFamily="18" charset="0"/>
                <a:cs typeface="Times New Roman" panose="02020603050405020304" pitchFamily="18" charset="0"/>
              </a:defRPr>
            </a:lvl2pPr>
            <a:lvl3pPr algn="just">
              <a:lnSpc>
                <a:spcPct val="100000"/>
              </a:lnSpc>
              <a:defRPr>
                <a:latin typeface="Times New Roman" panose="02020603050405020304" pitchFamily="18" charset="0"/>
                <a:cs typeface="Times New Roman" panose="02020603050405020304" pitchFamily="18" charset="0"/>
              </a:defRPr>
            </a:lvl3pPr>
            <a:lvl4pPr algn="just">
              <a:lnSpc>
                <a:spcPct val="100000"/>
              </a:lnSpc>
              <a:defRPr>
                <a:latin typeface="Times New Roman" panose="02020603050405020304" pitchFamily="18" charset="0"/>
                <a:cs typeface="Times New Roman" panose="02020603050405020304" pitchFamily="18" charset="0"/>
              </a:defRPr>
            </a:lvl4pPr>
            <a:lvl5pPr algn="just">
              <a:lnSpc>
                <a:spcPct val="100000"/>
              </a:lnSpc>
              <a:defRPr>
                <a:latin typeface="Times New Roman" panose="02020603050405020304" pitchFamily="18" charset="0"/>
                <a:cs typeface="Times New Roman" panose="02020603050405020304" pitchFamily="18" charset="0"/>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7" name="Straight Connector 6"/>
          <p:cNvCxnSpPr/>
          <p:nvPr/>
        </p:nvCxnSpPr>
        <p:spPr>
          <a:xfrm flipV="1">
            <a:off x="1" y="850392"/>
            <a:ext cx="12191999" cy="18288"/>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8258163"/>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jpeg"/><Relationship Id="rId5" Type="http://schemas.openxmlformats.org/officeDocument/2006/relationships/image" Target="../media/image2.png"/><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2104" y="6624"/>
            <a:ext cx="10497312" cy="825481"/>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69900" y="1054444"/>
            <a:ext cx="11290300" cy="5240340"/>
          </a:xfrm>
          <a:prstGeom prst="rect">
            <a:avLst/>
          </a:prstGeom>
        </p:spPr>
        <p:txBody>
          <a:bodyPr vert="horz" lIns="91440" tIns="45720" rIns="91440" bIns="45720" rtlCol="0">
            <a:normAutofit/>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1" y="6466782"/>
            <a:ext cx="2743200" cy="365125"/>
          </a:xfrm>
          <a:prstGeom prst="rect">
            <a:avLst/>
          </a:prstGeom>
        </p:spPr>
        <p:txBody>
          <a:bodyPr vert="horz" lIns="91440" tIns="45720" rIns="91440" bIns="45720" rtlCol="0" anchor="ctr"/>
          <a:lstStyle>
            <a:lvl1pPr algn="l">
              <a:defRPr sz="1400">
                <a:solidFill>
                  <a:schemeClr val="bg1"/>
                </a:solidFill>
              </a:defRPr>
            </a:lvl1pPr>
          </a:lstStyle>
          <a:p>
            <a:fld id="{ED041768-18F6-4DF8-A656-65260B47A6AF}" type="datetime1">
              <a:rPr lang="en-IN" smtClean="0"/>
              <a:t>25-02-2026</a:t>
            </a:fld>
            <a:endParaRPr lang="en-IN"/>
          </a:p>
        </p:txBody>
      </p:sp>
      <p:sp>
        <p:nvSpPr>
          <p:cNvPr id="5" name="Footer Placeholder 4"/>
          <p:cNvSpPr>
            <a:spLocks noGrp="1"/>
          </p:cNvSpPr>
          <p:nvPr>
            <p:ph type="ftr" sz="quarter" idx="3"/>
          </p:nvPr>
        </p:nvSpPr>
        <p:spPr>
          <a:xfrm>
            <a:off x="2762250" y="6484244"/>
            <a:ext cx="6705599" cy="365125"/>
          </a:xfrm>
          <a:prstGeom prst="rect">
            <a:avLst/>
          </a:prstGeom>
        </p:spPr>
        <p:txBody>
          <a:bodyPr vert="horz" lIns="91440" tIns="45720" rIns="91440" bIns="45720" rtlCol="0" anchor="ctr"/>
          <a:lstStyle>
            <a:lvl1pPr algn="ctr">
              <a:defRPr sz="1400">
                <a:solidFill>
                  <a:schemeClr val="bg1"/>
                </a:solidFill>
              </a:defRPr>
            </a:lvl1pPr>
          </a:lstStyle>
          <a:p>
            <a:endParaRPr lang="en-IN" dirty="0"/>
          </a:p>
        </p:txBody>
      </p:sp>
      <p:sp>
        <p:nvSpPr>
          <p:cNvPr id="6" name="Slide Number Placeholder 5"/>
          <p:cNvSpPr>
            <a:spLocks noGrp="1"/>
          </p:cNvSpPr>
          <p:nvPr>
            <p:ph type="sldNum" sz="quarter" idx="4"/>
          </p:nvPr>
        </p:nvSpPr>
        <p:spPr>
          <a:xfrm>
            <a:off x="9425189" y="6492975"/>
            <a:ext cx="2743200" cy="365125"/>
          </a:xfrm>
          <a:prstGeom prst="rect">
            <a:avLst/>
          </a:prstGeom>
        </p:spPr>
        <p:txBody>
          <a:bodyPr vert="horz" lIns="91440" tIns="45720" rIns="91440" bIns="45720" rtlCol="0" anchor="ctr"/>
          <a:lstStyle>
            <a:lvl1pPr algn="r">
              <a:defRPr sz="1400" b="1">
                <a:solidFill>
                  <a:schemeClr val="bg1"/>
                </a:solidFill>
              </a:defRPr>
            </a:lvl1pPr>
          </a:lstStyle>
          <a:p>
            <a:fld id="{32D53DD3-5A22-4F20-9989-CD50D8BB4DA1}" type="slidenum">
              <a:rPr lang="en-IN" smtClean="0"/>
              <a:t>‹#›</a:t>
            </a:fld>
            <a:endParaRPr lang="en-IN"/>
          </a:p>
        </p:txBody>
      </p:sp>
      <p:pic>
        <p:nvPicPr>
          <p:cNvPr id="8" name="Picture 7" descr="http://nptel.ac.in/LocalChapter/Assets/college_logo/304_logo.jpg"/>
          <p:cNvPicPr/>
          <p:nvPr/>
        </p:nvPicPr>
        <p:blipFill>
          <a:blip r:embed="rId4">
            <a:extLst>
              <a:ext uri="{28A0092B-C50C-407E-A947-70E740481C1C}">
                <a14:useLocalDpi xmlns:a14="http://schemas.microsoft.com/office/drawing/2010/main" val="0"/>
              </a:ext>
            </a:extLst>
          </a:blip>
          <a:srcRect/>
          <a:stretch>
            <a:fillRect/>
          </a:stretch>
        </p:blipFill>
        <p:spPr bwMode="auto">
          <a:xfrm>
            <a:off x="1" y="-6349"/>
            <a:ext cx="832103" cy="838454"/>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p:cNvPicPr>
            <a:picLocks noChangeAspect="1"/>
          </p:cNvPicPr>
          <p:nvPr userDrawn="1"/>
        </p:nvPicPr>
        <p:blipFill>
          <a:blip r:embed="rId5"/>
          <a:stretch>
            <a:fillRect/>
          </a:stretch>
        </p:blipFill>
        <p:spPr>
          <a:xfrm>
            <a:off x="-18916" y="6466782"/>
            <a:ext cx="12201525" cy="400050"/>
          </a:xfrm>
          <a:prstGeom prst="rect">
            <a:avLst/>
          </a:prstGeom>
        </p:spPr>
      </p:pic>
      <p:pic>
        <p:nvPicPr>
          <p:cNvPr id="2050" name="Picture 2" descr="CHARUSAT: Admission 2025, Fees, Courses, Cutoff, Placements &amp; Rankings"/>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329416" y="27670"/>
            <a:ext cx="838973" cy="838973"/>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p:cNvSpPr txBox="1"/>
          <p:nvPr userDrawn="1"/>
        </p:nvSpPr>
        <p:spPr>
          <a:xfrm>
            <a:off x="2342119" y="6452395"/>
            <a:ext cx="754585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white"/>
                </a:solidFill>
                <a:effectLst/>
                <a:uLnTx/>
                <a:uFillTx/>
                <a:latin typeface="Times New Roman" panose="02020603050405020304" pitchFamily="18" charset="0"/>
                <a:ea typeface="+mn-ea"/>
                <a:cs typeface="Times New Roman" panose="02020603050405020304" pitchFamily="18" charset="0"/>
              </a:rPr>
              <a:t>Department of Computer Science &amp; Engineering, CSPIT, CHARUSAT</a:t>
            </a:r>
          </a:p>
        </p:txBody>
      </p:sp>
      <p:sp>
        <p:nvSpPr>
          <p:cNvPr id="20" name="TextBox 19"/>
          <p:cNvSpPr txBox="1"/>
          <p:nvPr userDrawn="1"/>
        </p:nvSpPr>
        <p:spPr>
          <a:xfrm>
            <a:off x="11353485" y="6464678"/>
            <a:ext cx="790833" cy="369332"/>
          </a:xfrm>
          <a:prstGeom prst="rect">
            <a:avLst/>
          </a:prstGeom>
          <a:noFill/>
        </p:spPr>
        <p:txBody>
          <a:bodyPr wrap="square" rtlCol="0">
            <a:spAutoFit/>
          </a:bodyPr>
          <a:lstStyle/>
          <a:p>
            <a:pPr algn="r"/>
            <a:fld id="{32D53DD3-5A22-4F20-9989-CD50D8BB4DA1}" type="slidenum">
              <a:rPr kumimoji="0" lang="en-IN" sz="1800" b="1" i="0" u="none" strike="noStrike" kern="1200" cap="none" spc="0" normalizeH="0" baseline="0" noProof="0" smtClean="0">
                <a:ln>
                  <a:noFill/>
                </a:ln>
                <a:solidFill>
                  <a:prstClr val="white"/>
                </a:solidFill>
                <a:effectLst/>
                <a:uLnTx/>
                <a:uFillTx/>
                <a:latin typeface="Times New Roman" panose="02020603050405020304" pitchFamily="18" charset="0"/>
                <a:ea typeface="+mn-ea"/>
                <a:cs typeface="Times New Roman" panose="02020603050405020304" pitchFamily="18" charset="0"/>
              </a:rPr>
              <a:pPr algn="r"/>
              <a:t>‹#›</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6932477"/>
      </p:ext>
    </p:extLst>
  </p:cSld>
  <p:clrMap bg1="lt1" tx1="dk1" bg2="lt2" tx2="dk2" accent1="accent1" accent2="accent2" accent3="accent3" accent4="accent4" accent5="accent5" accent6="accent6" hlink="hlink" folHlink="folHlink"/>
  <p:sldLayoutIdLst>
    <p:sldLayoutId id="2147483661" r:id="rId1"/>
    <p:sldLayoutId id="2147483662" r:id="rId2"/>
  </p:sldLayoutIdLst>
  <p:hf sldNum="0" hdr="0" ftr="0" dt="0"/>
  <p:txStyles>
    <p:titleStyle>
      <a:lvl1pPr algn="l" defTabSz="914400" rtl="0" eaLnBrk="1" latinLnBrk="0" hangingPunct="1">
        <a:lnSpc>
          <a:spcPct val="90000"/>
        </a:lnSpc>
        <a:spcBef>
          <a:spcPct val="0"/>
        </a:spcBef>
        <a:buNone/>
        <a:defRPr sz="40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www.geeksforgeeks.org/data-science/what-is-dataset/"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6216" y="0"/>
            <a:ext cx="10431595" cy="837236"/>
          </a:xfrm>
        </p:spPr>
        <p:txBody>
          <a:bodyPr/>
          <a:lstStyle/>
          <a:p>
            <a:r>
              <a:rPr lang="en-US" dirty="0" smtClean="0"/>
              <a:t>Content </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261362080"/>
              </p:ext>
            </p:extLst>
          </p:nvPr>
        </p:nvGraphicFramePr>
        <p:xfrm>
          <a:off x="1075047" y="1334542"/>
          <a:ext cx="10133932" cy="4480560"/>
        </p:xfrm>
        <a:graphic>
          <a:graphicData uri="http://schemas.openxmlformats.org/drawingml/2006/table">
            <a:tbl>
              <a:tblPr firstRow="1" bandRow="1">
                <a:tableStyleId>{5940675A-B579-460E-94D1-54222C63F5DA}</a:tableStyleId>
              </a:tblPr>
              <a:tblGrid>
                <a:gridCol w="672556">
                  <a:extLst>
                    <a:ext uri="{9D8B030D-6E8A-4147-A177-3AD203B41FA5}">
                      <a16:colId xmlns:a16="http://schemas.microsoft.com/office/drawing/2014/main" val="4169689871"/>
                    </a:ext>
                  </a:extLst>
                </a:gridCol>
                <a:gridCol w="9461376">
                  <a:extLst>
                    <a:ext uri="{9D8B030D-6E8A-4147-A177-3AD203B41FA5}">
                      <a16:colId xmlns:a16="http://schemas.microsoft.com/office/drawing/2014/main" val="3840655519"/>
                    </a:ext>
                  </a:extLst>
                </a:gridCol>
              </a:tblGrid>
              <a:tr h="370840">
                <a:tc>
                  <a:txBody>
                    <a:bodyPr/>
                    <a:lstStyle/>
                    <a:p>
                      <a:r>
                        <a:rPr lang="en-US" sz="2400" dirty="0" smtClean="0">
                          <a:latin typeface="Times New Roman" panose="02020603050405020304" pitchFamily="18" charset="0"/>
                          <a:cs typeface="Times New Roman" panose="02020603050405020304" pitchFamily="18" charset="0"/>
                        </a:rPr>
                        <a:t>1.1</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Difference between Data analysis and analytics</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23923765"/>
                  </a:ext>
                </a:extLst>
              </a:tr>
              <a:tr h="370840">
                <a:tc>
                  <a:txBody>
                    <a:bodyPr/>
                    <a:lstStyle/>
                    <a:p>
                      <a:r>
                        <a:rPr lang="en-US" sz="2400" dirty="0" smtClean="0">
                          <a:latin typeface="Times New Roman" panose="02020603050405020304" pitchFamily="18" charset="0"/>
                          <a:cs typeface="Times New Roman" panose="02020603050405020304" pitchFamily="18" charset="0"/>
                        </a:rPr>
                        <a:t>1.2</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dirty="0" smtClean="0">
                          <a:latin typeface="Times New Roman" panose="02020603050405020304" pitchFamily="18" charset="0"/>
                          <a:cs typeface="Times New Roman" panose="02020603050405020304" pitchFamily="18" charset="0"/>
                        </a:rPr>
                        <a:t>Data Science Lifecycle</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98833523"/>
                  </a:ext>
                </a:extLst>
              </a:tr>
              <a:tr h="370840">
                <a:tc>
                  <a:txBody>
                    <a:bodyPr/>
                    <a:lstStyle/>
                    <a:p>
                      <a:r>
                        <a:rPr lang="en-US" sz="2400" dirty="0" smtClean="0">
                          <a:latin typeface="Times New Roman" panose="02020603050405020304" pitchFamily="18" charset="0"/>
                          <a:cs typeface="Times New Roman" panose="02020603050405020304" pitchFamily="18" charset="0"/>
                        </a:rPr>
                        <a:t>1.3</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Roles and Challenges in Data Science</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58195961"/>
                  </a:ext>
                </a:extLst>
              </a:tr>
              <a:tr h="370840">
                <a:tc>
                  <a:txBody>
                    <a:bodyPr/>
                    <a:lstStyle/>
                    <a:p>
                      <a:r>
                        <a:rPr lang="en-US" sz="2400" dirty="0" smtClean="0">
                          <a:latin typeface="Times New Roman" panose="02020603050405020304" pitchFamily="18" charset="0"/>
                          <a:cs typeface="Times New Roman" panose="02020603050405020304" pitchFamily="18" charset="0"/>
                        </a:rPr>
                        <a:t>1.4</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dirty="0" smtClean="0">
                          <a:latin typeface="Times New Roman" panose="02020603050405020304" pitchFamily="18" charset="0"/>
                          <a:cs typeface="Times New Roman" panose="02020603050405020304" pitchFamily="18" charset="0"/>
                        </a:rPr>
                        <a:t>Types of data attributes</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59935742"/>
                  </a:ext>
                </a:extLst>
              </a:tr>
              <a:tr h="370840">
                <a:tc>
                  <a:txBody>
                    <a:bodyPr/>
                    <a:lstStyle/>
                    <a:p>
                      <a:r>
                        <a:rPr lang="en-US" sz="2400" dirty="0" smtClean="0">
                          <a:latin typeface="Times New Roman" panose="02020603050405020304" pitchFamily="18" charset="0"/>
                          <a:cs typeface="Times New Roman" panose="02020603050405020304" pitchFamily="18" charset="0"/>
                        </a:rPr>
                        <a:t>1.5</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Major tasks in Data Pre-processing</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94540982"/>
                  </a:ext>
                </a:extLst>
              </a:tr>
              <a:tr h="370840">
                <a:tc>
                  <a:txBody>
                    <a:bodyPr/>
                    <a:lstStyle/>
                    <a:p>
                      <a:r>
                        <a:rPr lang="en-US" sz="2400" dirty="0" smtClean="0">
                          <a:latin typeface="Times New Roman" panose="02020603050405020304" pitchFamily="18" charset="0"/>
                          <a:cs typeface="Times New Roman" panose="02020603050405020304" pitchFamily="18" charset="0"/>
                        </a:rPr>
                        <a:t>1.6</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dirty="0" smtClean="0">
                          <a:latin typeface="Times New Roman" panose="02020603050405020304" pitchFamily="18" charset="0"/>
                          <a:cs typeface="Times New Roman" panose="02020603050405020304" pitchFamily="18" charset="0"/>
                        </a:rPr>
                        <a:t>Data Integration - Entity Identification Problem, Tuple</a:t>
                      </a:r>
                      <a:r>
                        <a:rPr lang="en-IN" sz="2400" baseline="0" dirty="0" smtClean="0">
                          <a:latin typeface="Times New Roman" panose="02020603050405020304" pitchFamily="18" charset="0"/>
                          <a:cs typeface="Times New Roman" panose="02020603050405020304" pitchFamily="18" charset="0"/>
                        </a:rPr>
                        <a:t> </a:t>
                      </a:r>
                      <a:r>
                        <a:rPr lang="en-IN" sz="2400" dirty="0" smtClean="0">
                          <a:latin typeface="Times New Roman" panose="02020603050405020304" pitchFamily="18" charset="0"/>
                          <a:cs typeface="Times New Roman" panose="02020603050405020304" pitchFamily="18" charset="0"/>
                        </a:rPr>
                        <a:t>Duplication</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39080653"/>
                  </a:ext>
                </a:extLst>
              </a:tr>
              <a:tr h="370840">
                <a:tc>
                  <a:txBody>
                    <a:bodyPr/>
                    <a:lstStyle/>
                    <a:p>
                      <a:r>
                        <a:rPr lang="en-US" sz="2400" dirty="0" smtClean="0">
                          <a:latin typeface="Times New Roman" panose="02020603050405020304" pitchFamily="18" charset="0"/>
                          <a:cs typeface="Times New Roman" panose="02020603050405020304" pitchFamily="18" charset="0"/>
                        </a:rPr>
                        <a:t>1.7</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Data Transformation – Min-max normalization, z-score</a:t>
                      </a:r>
                      <a:r>
                        <a:rPr lang="en-US" sz="2400" baseline="0" dirty="0" smtClean="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normalization, and Decimal scaling; Binning</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36433382"/>
                  </a:ext>
                </a:extLst>
              </a:tr>
              <a:tr h="370840">
                <a:tc>
                  <a:txBody>
                    <a:bodyPr/>
                    <a:lstStyle/>
                    <a:p>
                      <a:r>
                        <a:rPr lang="en-US" sz="2400" dirty="0" smtClean="0">
                          <a:latin typeface="Times New Roman" panose="02020603050405020304" pitchFamily="18" charset="0"/>
                          <a:cs typeface="Times New Roman" panose="02020603050405020304" pitchFamily="18" charset="0"/>
                        </a:rPr>
                        <a:t>1.8</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Data encoding – Label encoding and one-hot encoding</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50924437"/>
                  </a:ext>
                </a:extLst>
              </a:tr>
              <a:tr h="370840">
                <a:tc>
                  <a:txBody>
                    <a:bodyPr/>
                    <a:lstStyle/>
                    <a:p>
                      <a:r>
                        <a:rPr lang="en-US" sz="2400" dirty="0" smtClean="0">
                          <a:latin typeface="Times New Roman" panose="02020603050405020304" pitchFamily="18" charset="0"/>
                          <a:cs typeface="Times New Roman" panose="02020603050405020304" pitchFamily="18" charset="0"/>
                        </a:rPr>
                        <a:t>1.9</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dirty="0" smtClean="0">
                          <a:latin typeface="Times New Roman" panose="02020603050405020304" pitchFamily="18" charset="0"/>
                          <a:cs typeface="Times New Roman" panose="02020603050405020304" pitchFamily="18" charset="0"/>
                        </a:rPr>
                        <a:t>Pre-processing</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69042176"/>
                  </a:ext>
                </a:extLst>
              </a:tr>
            </a:tbl>
          </a:graphicData>
        </a:graphic>
      </p:graphicFrame>
    </p:spTree>
    <p:extLst>
      <p:ext uri="{BB962C8B-B14F-4D97-AF65-F5344CB8AC3E}">
        <p14:creationId xmlns:p14="http://schemas.microsoft.com/office/powerpoint/2010/main" val="27498329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An Internet One Minute : 2025 </a:t>
            </a:r>
          </a:p>
        </p:txBody>
      </p:sp>
      <p:pic>
        <p:nvPicPr>
          <p:cNvPr id="4" name="Picture 2" descr="The 11th Edition of Data Never Sleep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32983" y="1027113"/>
            <a:ext cx="9364133" cy="5267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23044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Annual Growth </a:t>
            </a:r>
            <a:r>
              <a:rPr lang="en-IN" dirty="0" smtClean="0"/>
              <a:t>Rate</a:t>
            </a:r>
            <a:endParaRPr lang="en-IN" dirty="0"/>
          </a:p>
        </p:txBody>
      </p:sp>
      <p:pic>
        <p:nvPicPr>
          <p:cNvPr id="4" name="Content Placeholder 3"/>
          <p:cNvPicPr>
            <a:picLocks noGrp="1" noChangeAspect="1"/>
          </p:cNvPicPr>
          <p:nvPr>
            <p:ph idx="1"/>
          </p:nvPr>
        </p:nvPicPr>
        <p:blipFill>
          <a:blip r:embed="rId2"/>
          <a:stretch>
            <a:fillRect/>
          </a:stretch>
        </p:blipFill>
        <p:spPr>
          <a:xfrm>
            <a:off x="2636812" y="1177682"/>
            <a:ext cx="6914148" cy="4875361"/>
          </a:xfrm>
          <a:prstGeom prst="rect">
            <a:avLst/>
          </a:prstGeom>
        </p:spPr>
      </p:pic>
    </p:spTree>
    <p:extLst>
      <p:ext uri="{BB962C8B-B14F-4D97-AF65-F5344CB8AC3E}">
        <p14:creationId xmlns:p14="http://schemas.microsoft.com/office/powerpoint/2010/main" val="17002315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Information Age is Here</a:t>
            </a:r>
            <a:r>
              <a:rPr lang="en-US" dirty="0" smtClean="0"/>
              <a:t>!</a:t>
            </a:r>
            <a:endParaRPr lang="en-IN" dirty="0"/>
          </a:p>
        </p:txBody>
      </p:sp>
      <p:sp>
        <p:nvSpPr>
          <p:cNvPr id="3" name="Content Placeholder 2"/>
          <p:cNvSpPr>
            <a:spLocks noGrp="1"/>
          </p:cNvSpPr>
          <p:nvPr>
            <p:ph idx="1"/>
          </p:nvPr>
        </p:nvSpPr>
        <p:spPr/>
        <p:txBody>
          <a:bodyPr/>
          <a:lstStyle/>
          <a:p>
            <a:r>
              <a:rPr lang="en-US" dirty="0"/>
              <a:t>"Data doubles about every year, but useful information seems to be decreasing."</a:t>
            </a:r>
          </a:p>
          <a:p>
            <a:pPr lvl="1"/>
            <a:r>
              <a:rPr lang="en-US" dirty="0"/>
              <a:t>Margaret Dunham, "Data Mining Techniques &amp; Algorithms", </a:t>
            </a:r>
          </a:p>
          <a:p>
            <a:endParaRPr lang="en-US" dirty="0"/>
          </a:p>
          <a:p>
            <a:r>
              <a:rPr lang="en-US" dirty="0"/>
              <a:t>"There is a growing gap between the generation of data and our understanding of it."</a:t>
            </a:r>
          </a:p>
          <a:p>
            <a:pPr lvl="1"/>
            <a:r>
              <a:rPr lang="en-US" dirty="0"/>
              <a:t>Witten &amp; Frank, "Data Mining: Practical Machine Learning Tools", </a:t>
            </a:r>
          </a:p>
          <a:p>
            <a:endParaRPr lang="en-US" dirty="0"/>
          </a:p>
          <a:p>
            <a:endParaRPr lang="en-IN" dirty="0"/>
          </a:p>
        </p:txBody>
      </p:sp>
    </p:spTree>
    <p:extLst>
      <p:ext uri="{BB962C8B-B14F-4D97-AF65-F5344CB8AC3E}">
        <p14:creationId xmlns:p14="http://schemas.microsoft.com/office/powerpoint/2010/main" val="11764874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Evolution of Sciences</a:t>
            </a:r>
          </a:p>
        </p:txBody>
      </p:sp>
      <p:sp>
        <p:nvSpPr>
          <p:cNvPr id="3" name="Content Placeholder 2"/>
          <p:cNvSpPr>
            <a:spLocks noGrp="1"/>
          </p:cNvSpPr>
          <p:nvPr>
            <p:ph idx="1"/>
          </p:nvPr>
        </p:nvSpPr>
        <p:spPr/>
        <p:txBody>
          <a:bodyPr>
            <a:noAutofit/>
          </a:bodyPr>
          <a:lstStyle/>
          <a:p>
            <a:pPr>
              <a:lnSpc>
                <a:spcPct val="110000"/>
              </a:lnSpc>
            </a:pPr>
            <a:r>
              <a:rPr lang="en-US" sz="1800" dirty="0"/>
              <a:t>Before 1600, </a:t>
            </a:r>
            <a:r>
              <a:rPr lang="en-US" sz="1800" b="1" dirty="0">
                <a:solidFill>
                  <a:srgbClr val="0000FF"/>
                </a:solidFill>
              </a:rPr>
              <a:t>empirical science</a:t>
            </a:r>
          </a:p>
          <a:p>
            <a:pPr>
              <a:lnSpc>
                <a:spcPct val="110000"/>
              </a:lnSpc>
            </a:pPr>
            <a:r>
              <a:rPr lang="en-US" sz="1800" dirty="0"/>
              <a:t>1600-1950s, </a:t>
            </a:r>
            <a:r>
              <a:rPr lang="en-US" sz="1800" b="1" dirty="0">
                <a:solidFill>
                  <a:srgbClr val="0000FF"/>
                </a:solidFill>
              </a:rPr>
              <a:t>theoretical science</a:t>
            </a:r>
          </a:p>
          <a:p>
            <a:pPr lvl="1">
              <a:lnSpc>
                <a:spcPct val="110000"/>
              </a:lnSpc>
            </a:pPr>
            <a:r>
              <a:rPr lang="en-US" sz="1800" dirty="0"/>
              <a:t>Each discipline has grown a </a:t>
            </a:r>
            <a:r>
              <a:rPr lang="en-US" sz="1800" i="1" dirty="0"/>
              <a:t>theoretical </a:t>
            </a:r>
            <a:r>
              <a:rPr lang="en-US" sz="1800" dirty="0"/>
              <a:t>component. Theoretical models often motivate experiments and generalize our understanding. </a:t>
            </a:r>
          </a:p>
          <a:p>
            <a:pPr>
              <a:lnSpc>
                <a:spcPct val="110000"/>
              </a:lnSpc>
            </a:pPr>
            <a:r>
              <a:rPr lang="en-US" sz="1800" dirty="0"/>
              <a:t>1950s-1990s, </a:t>
            </a:r>
            <a:r>
              <a:rPr lang="en-US" sz="1800" b="1" dirty="0">
                <a:solidFill>
                  <a:srgbClr val="0000FF"/>
                </a:solidFill>
              </a:rPr>
              <a:t>computational science</a:t>
            </a:r>
          </a:p>
          <a:p>
            <a:pPr lvl="1">
              <a:lnSpc>
                <a:spcPct val="110000"/>
              </a:lnSpc>
            </a:pPr>
            <a:r>
              <a:rPr lang="en-US" sz="1800" dirty="0"/>
              <a:t>Computational Science traditionally meant simulation. It grew out of our inability to find closed-form solutions for complex mathematical models. </a:t>
            </a:r>
          </a:p>
          <a:p>
            <a:pPr>
              <a:lnSpc>
                <a:spcPct val="110000"/>
              </a:lnSpc>
            </a:pPr>
            <a:r>
              <a:rPr lang="en-US" sz="1800" dirty="0"/>
              <a:t>1990-now, </a:t>
            </a:r>
            <a:r>
              <a:rPr lang="en-US" sz="1800" b="1" dirty="0">
                <a:solidFill>
                  <a:srgbClr val="0000FF"/>
                </a:solidFill>
              </a:rPr>
              <a:t>data science</a:t>
            </a:r>
          </a:p>
          <a:p>
            <a:pPr lvl="1">
              <a:lnSpc>
                <a:spcPct val="110000"/>
              </a:lnSpc>
            </a:pPr>
            <a:r>
              <a:rPr lang="en-US" sz="1800" dirty="0"/>
              <a:t>The flood of data from new scientific instruments and simulations</a:t>
            </a:r>
          </a:p>
          <a:p>
            <a:pPr lvl="1">
              <a:lnSpc>
                <a:spcPct val="110000"/>
              </a:lnSpc>
            </a:pPr>
            <a:r>
              <a:rPr lang="en-US" sz="1800" dirty="0"/>
              <a:t>The ability to economically store and manage petabytes of data online</a:t>
            </a:r>
          </a:p>
          <a:p>
            <a:pPr lvl="1">
              <a:lnSpc>
                <a:spcPct val="110000"/>
              </a:lnSpc>
            </a:pPr>
            <a:r>
              <a:rPr lang="en-US" sz="1800" dirty="0"/>
              <a:t>The Internet and computing Grid that makes all these archives universally accessible </a:t>
            </a:r>
          </a:p>
          <a:p>
            <a:pPr lvl="1">
              <a:lnSpc>
                <a:spcPct val="110000"/>
              </a:lnSpc>
            </a:pPr>
            <a:r>
              <a:rPr lang="en-US" sz="1800" dirty="0"/>
              <a:t>Scientific info. management, acquisition, organization, query, and visualization tasks scale almost linearly with data volumes.  </a:t>
            </a:r>
          </a:p>
          <a:p>
            <a:pPr marL="457200" lvl="1" indent="0" algn="ctr">
              <a:lnSpc>
                <a:spcPct val="110000"/>
              </a:lnSpc>
              <a:buNone/>
            </a:pPr>
            <a:r>
              <a:rPr lang="en-US" b="1" dirty="0" smtClean="0">
                <a:solidFill>
                  <a:schemeClr val="hlink"/>
                </a:solidFill>
              </a:rPr>
              <a:t>Data </a:t>
            </a:r>
            <a:r>
              <a:rPr lang="en-US" b="1" dirty="0">
                <a:solidFill>
                  <a:schemeClr val="hlink"/>
                </a:solidFill>
              </a:rPr>
              <a:t>science </a:t>
            </a:r>
            <a:r>
              <a:rPr lang="en-US" b="1" dirty="0"/>
              <a:t>is a major new challenge!</a:t>
            </a:r>
          </a:p>
          <a:p>
            <a:endParaRPr lang="en-IN" dirty="0"/>
          </a:p>
        </p:txBody>
      </p:sp>
    </p:spTree>
    <p:extLst>
      <p:ext uri="{BB962C8B-B14F-4D97-AF65-F5344CB8AC3E}">
        <p14:creationId xmlns:p14="http://schemas.microsoft.com/office/powerpoint/2010/main" val="28918255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Basic Terminology</a:t>
            </a:r>
          </a:p>
        </p:txBody>
      </p:sp>
      <p:pic>
        <p:nvPicPr>
          <p:cNvPr id="4" name="Content Placeholder 3"/>
          <p:cNvPicPr>
            <a:picLocks noGrp="1" noChangeAspect="1"/>
          </p:cNvPicPr>
          <p:nvPr>
            <p:ph idx="1"/>
          </p:nvPr>
        </p:nvPicPr>
        <p:blipFill>
          <a:blip r:embed="rId2"/>
          <a:stretch>
            <a:fillRect/>
          </a:stretch>
        </p:blipFill>
        <p:spPr>
          <a:xfrm>
            <a:off x="2088877" y="1027113"/>
            <a:ext cx="8052346" cy="5267325"/>
          </a:xfrm>
          <a:prstGeom prst="rect">
            <a:avLst/>
          </a:prstGeom>
        </p:spPr>
      </p:pic>
    </p:spTree>
    <p:extLst>
      <p:ext uri="{BB962C8B-B14F-4D97-AF65-F5344CB8AC3E}">
        <p14:creationId xmlns:p14="http://schemas.microsoft.com/office/powerpoint/2010/main" val="22344306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Data leads to Knowledge leads to Understanding</a:t>
            </a:r>
            <a:endParaRPr lang="en-IN" dirty="0"/>
          </a:p>
        </p:txBody>
      </p:sp>
      <p:sp>
        <p:nvSpPr>
          <p:cNvPr id="3" name="Content Placeholder 2"/>
          <p:cNvSpPr>
            <a:spLocks noGrp="1"/>
          </p:cNvSpPr>
          <p:nvPr>
            <p:ph idx="1"/>
          </p:nvPr>
        </p:nvSpPr>
        <p:spPr/>
        <p:txBody>
          <a:bodyPr/>
          <a:lstStyle/>
          <a:p>
            <a:pPr>
              <a:lnSpc>
                <a:spcPct val="240000"/>
              </a:lnSpc>
              <a:buNone/>
            </a:pPr>
            <a:r>
              <a:rPr lang="en-US" b="1" dirty="0" smtClean="0"/>
              <a:t>EXAMPLE </a:t>
            </a:r>
          </a:p>
          <a:p>
            <a:pPr>
              <a:lnSpc>
                <a:spcPct val="150000"/>
              </a:lnSpc>
            </a:pPr>
            <a:r>
              <a:rPr lang="en-US" dirty="0" smtClean="0">
                <a:solidFill>
                  <a:srgbClr val="CC3300"/>
                </a:solidFill>
              </a:rPr>
              <a:t>Data</a:t>
            </a:r>
            <a:r>
              <a:rPr lang="en-US" dirty="0" smtClean="0"/>
              <a:t> = ages and heights of children (stored in database)</a:t>
            </a:r>
          </a:p>
          <a:p>
            <a:pPr>
              <a:lnSpc>
                <a:spcPct val="140000"/>
              </a:lnSpc>
            </a:pPr>
            <a:r>
              <a:rPr lang="en-US" dirty="0" smtClean="0">
                <a:solidFill>
                  <a:srgbClr val="CC3300"/>
                </a:solidFill>
              </a:rPr>
              <a:t>Information</a:t>
            </a:r>
            <a:r>
              <a:rPr lang="en-US" dirty="0" smtClean="0"/>
              <a:t> </a:t>
            </a:r>
            <a:r>
              <a:rPr lang="en-US" dirty="0"/>
              <a:t>= sorting as per age </a:t>
            </a:r>
          </a:p>
          <a:p>
            <a:pPr>
              <a:lnSpc>
                <a:spcPct val="140000"/>
              </a:lnSpc>
            </a:pPr>
            <a:r>
              <a:rPr lang="en-US" dirty="0">
                <a:solidFill>
                  <a:srgbClr val="CC3300"/>
                </a:solidFill>
              </a:rPr>
              <a:t>Knowledge</a:t>
            </a:r>
            <a:r>
              <a:rPr lang="en-US" dirty="0"/>
              <a:t> = the older children tend to be taller</a:t>
            </a:r>
          </a:p>
          <a:p>
            <a:pPr>
              <a:lnSpc>
                <a:spcPct val="140000"/>
              </a:lnSpc>
            </a:pPr>
            <a:r>
              <a:rPr lang="en-US" dirty="0">
                <a:solidFill>
                  <a:srgbClr val="CC3300"/>
                </a:solidFill>
              </a:rPr>
              <a:t>Understanding</a:t>
            </a:r>
            <a:r>
              <a:rPr lang="en-US" dirty="0"/>
              <a:t> = children’s bones grow as they get older</a:t>
            </a:r>
            <a:endParaRPr lang="en-IN" dirty="0"/>
          </a:p>
        </p:txBody>
      </p:sp>
      <p:sp>
        <p:nvSpPr>
          <p:cNvPr id="4" name="Text Box 4"/>
          <p:cNvSpPr txBox="1">
            <a:spLocks noChangeArrowheads="1"/>
          </p:cNvSpPr>
          <p:nvPr/>
        </p:nvSpPr>
        <p:spPr bwMode="auto">
          <a:xfrm>
            <a:off x="2209800" y="5562600"/>
            <a:ext cx="8229600" cy="439738"/>
          </a:xfrm>
          <a:prstGeom prst="rect">
            <a:avLst/>
          </a:prstGeom>
          <a:solidFill>
            <a:srgbClr val="CCFFCC"/>
          </a:solidFill>
          <a:ln w="12700">
            <a:solidFill>
              <a:schemeClr val="tx1"/>
            </a:solidFill>
            <a:miter lim="800000"/>
            <a:headEnd/>
            <a:tailEnd/>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gn="ctr"/>
            <a:r>
              <a:rPr lang="en-GB" sz="2200" dirty="0">
                <a:solidFill>
                  <a:srgbClr val="CC0000"/>
                </a:solidFill>
                <a:latin typeface="Arial" panose="020B0604020202020204" pitchFamily="34" charset="0"/>
              </a:rPr>
              <a:t>Data </a:t>
            </a:r>
            <a:r>
              <a:rPr lang="en-GB" sz="2200" dirty="0">
                <a:solidFill>
                  <a:srgbClr val="CC0000"/>
                </a:solidFill>
                <a:latin typeface="Arial" panose="020B0604020202020204" pitchFamily="34" charset="0"/>
                <a:sym typeface="Monotype Sorts" pitchFamily="2" charset="2"/>
              </a:rPr>
              <a:t> Information  Knowledge  Understanding / Wisdom!</a:t>
            </a:r>
            <a:endParaRPr lang="en-US" dirty="0">
              <a:solidFill>
                <a:srgbClr val="CC0000"/>
              </a:solidFill>
              <a:sym typeface="Monotype Sorts" pitchFamily="2" charset="2"/>
            </a:endParaRPr>
          </a:p>
        </p:txBody>
      </p:sp>
    </p:spTree>
    <p:extLst>
      <p:ext uri="{BB962C8B-B14F-4D97-AF65-F5344CB8AC3E}">
        <p14:creationId xmlns:p14="http://schemas.microsoft.com/office/powerpoint/2010/main" val="17512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a:t>
            </a:r>
          </a:p>
        </p:txBody>
      </p:sp>
      <p:pic>
        <p:nvPicPr>
          <p:cNvPr id="4" name="Picture 3"/>
          <p:cNvPicPr>
            <a:picLocks noChangeAspect="1"/>
          </p:cNvPicPr>
          <p:nvPr/>
        </p:nvPicPr>
        <p:blipFill>
          <a:blip r:embed="rId2"/>
          <a:stretch>
            <a:fillRect/>
          </a:stretch>
        </p:blipFill>
        <p:spPr>
          <a:xfrm>
            <a:off x="2094722" y="1077868"/>
            <a:ext cx="8334064" cy="2652198"/>
          </a:xfrm>
          <a:prstGeom prst="rect">
            <a:avLst/>
          </a:prstGeom>
        </p:spPr>
      </p:pic>
      <p:pic>
        <p:nvPicPr>
          <p:cNvPr id="5" name="Picture 4"/>
          <p:cNvPicPr>
            <a:picLocks noChangeAspect="1"/>
          </p:cNvPicPr>
          <p:nvPr/>
        </p:nvPicPr>
        <p:blipFill>
          <a:blip r:embed="rId3"/>
          <a:stretch>
            <a:fillRect/>
          </a:stretch>
        </p:blipFill>
        <p:spPr>
          <a:xfrm>
            <a:off x="2057400" y="3489434"/>
            <a:ext cx="8371386" cy="2970115"/>
          </a:xfrm>
          <a:prstGeom prst="rect">
            <a:avLst/>
          </a:prstGeom>
        </p:spPr>
      </p:pic>
    </p:spTree>
    <p:extLst>
      <p:ext uri="{BB962C8B-B14F-4D97-AF65-F5344CB8AC3E}">
        <p14:creationId xmlns:p14="http://schemas.microsoft.com/office/powerpoint/2010/main" val="736644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Traditional Programming Vs Machine Learning </a:t>
            </a:r>
            <a:endParaRPr lang="en-IN" dirty="0"/>
          </a:p>
        </p:txBody>
      </p:sp>
      <p:pic>
        <p:nvPicPr>
          <p:cNvPr id="4" name="Content Placeholder 3">
            <a:extLst>
              <a:ext uri="{FF2B5EF4-FFF2-40B4-BE49-F238E27FC236}">
                <a16:creationId xmlns:a16="http://schemas.microsoft.com/office/drawing/2014/main" id="{8D3CCB80-0B86-40F1-B0F4-4B9D4BA4A4EC}"/>
              </a:ext>
            </a:extLst>
          </p:cNvPr>
          <p:cNvPicPr>
            <a:picLocks noGrp="1" noChangeAspect="1"/>
          </p:cNvPicPr>
          <p:nvPr>
            <p:ph idx="1"/>
          </p:nvPr>
        </p:nvPicPr>
        <p:blipFill>
          <a:blip r:embed="rId2"/>
          <a:stretch>
            <a:fillRect/>
          </a:stretch>
        </p:blipFill>
        <p:spPr>
          <a:xfrm>
            <a:off x="2338387" y="2493963"/>
            <a:ext cx="7553325" cy="2333625"/>
          </a:xfrm>
          <a:prstGeom prst="rect">
            <a:avLst/>
          </a:prstGeom>
        </p:spPr>
      </p:pic>
    </p:spTree>
    <p:extLst>
      <p:ext uri="{BB962C8B-B14F-4D97-AF65-F5344CB8AC3E}">
        <p14:creationId xmlns:p14="http://schemas.microsoft.com/office/powerpoint/2010/main" val="498256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Traditional Programming Vs Machine Learning </a:t>
            </a:r>
            <a:endParaRPr lang="en-IN" dirty="0"/>
          </a:p>
        </p:txBody>
      </p:sp>
      <p:pic>
        <p:nvPicPr>
          <p:cNvPr id="4" name="Content Placeholder 3"/>
          <p:cNvPicPr>
            <a:picLocks noGrp="1" noChangeAspect="1"/>
          </p:cNvPicPr>
          <p:nvPr>
            <p:ph idx="1"/>
          </p:nvPr>
        </p:nvPicPr>
        <p:blipFill>
          <a:blip r:embed="rId2"/>
          <a:stretch>
            <a:fillRect/>
          </a:stretch>
        </p:blipFill>
        <p:spPr>
          <a:xfrm>
            <a:off x="3619500" y="2008188"/>
            <a:ext cx="4991100" cy="3305175"/>
          </a:xfrm>
          <a:prstGeom prst="rect">
            <a:avLst/>
          </a:prstGeom>
        </p:spPr>
      </p:pic>
    </p:spTree>
    <p:extLst>
      <p:ext uri="{BB962C8B-B14F-4D97-AF65-F5344CB8AC3E}">
        <p14:creationId xmlns:p14="http://schemas.microsoft.com/office/powerpoint/2010/main" val="1103316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Data</a:t>
            </a:r>
            <a:endParaRPr lang="en-IN" dirty="0"/>
          </a:p>
        </p:txBody>
      </p:sp>
      <p:sp>
        <p:nvSpPr>
          <p:cNvPr id="3" name="Content Placeholder 2"/>
          <p:cNvSpPr>
            <a:spLocks noGrp="1"/>
          </p:cNvSpPr>
          <p:nvPr>
            <p:ph idx="1"/>
          </p:nvPr>
        </p:nvSpPr>
        <p:spPr/>
        <p:txBody>
          <a:bodyPr>
            <a:normAutofit fontScale="77500" lnSpcReduction="20000"/>
          </a:bodyPr>
          <a:lstStyle/>
          <a:p>
            <a:r>
              <a:rPr lang="en-IN" dirty="0"/>
              <a:t>Relational Data (Tables/Transaction/Legacy Data)</a:t>
            </a:r>
          </a:p>
          <a:p>
            <a:endParaRPr lang="en-IN" dirty="0"/>
          </a:p>
          <a:p>
            <a:r>
              <a:rPr lang="en-IN" dirty="0"/>
              <a:t>Text Data (Web)</a:t>
            </a:r>
          </a:p>
          <a:p>
            <a:endParaRPr lang="en-IN" dirty="0"/>
          </a:p>
          <a:p>
            <a:r>
              <a:rPr lang="en-IN" dirty="0"/>
              <a:t>Semi-structured Data (XML)</a:t>
            </a:r>
          </a:p>
          <a:p>
            <a:endParaRPr lang="en-IN" dirty="0"/>
          </a:p>
          <a:p>
            <a:r>
              <a:rPr lang="en-IN" dirty="0"/>
              <a:t>Graph Data</a:t>
            </a:r>
          </a:p>
          <a:p>
            <a:endParaRPr lang="en-IN" dirty="0"/>
          </a:p>
          <a:p>
            <a:r>
              <a:rPr lang="en-IN" dirty="0"/>
              <a:t>Social Network, Semantic Web (RDF), …</a:t>
            </a:r>
          </a:p>
          <a:p>
            <a:endParaRPr lang="en-IN" dirty="0"/>
          </a:p>
          <a:p>
            <a:r>
              <a:rPr lang="en-IN" dirty="0"/>
              <a:t>Streaming Data</a:t>
            </a:r>
          </a:p>
          <a:p>
            <a:endParaRPr lang="en-IN" dirty="0"/>
          </a:p>
          <a:p>
            <a:r>
              <a:rPr lang="en-IN" dirty="0"/>
              <a:t>You can afford to scan the data once</a:t>
            </a:r>
          </a:p>
          <a:p>
            <a:endParaRPr lang="en-IN" dirty="0"/>
          </a:p>
        </p:txBody>
      </p:sp>
    </p:spTree>
    <p:extLst>
      <p:ext uri="{BB962C8B-B14F-4D97-AF65-F5344CB8AC3E}">
        <p14:creationId xmlns:p14="http://schemas.microsoft.com/office/powerpoint/2010/main" val="3134513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342900" lvl="1" indent="-342900">
              <a:buSzPct val="75000"/>
              <a:buBlip>
                <a:blip r:embed="rId2"/>
              </a:buBlip>
              <a:defRPr/>
            </a:pPr>
            <a:r>
              <a:rPr lang="en-US" altLang="en-US" dirty="0"/>
              <a:t>Big Data </a:t>
            </a:r>
            <a:r>
              <a:rPr lang="en-US" dirty="0"/>
              <a:t>is any data that is expensive to manage and hard to extract value from </a:t>
            </a:r>
          </a:p>
          <a:p>
            <a:pPr lvl="1">
              <a:defRPr/>
            </a:pPr>
            <a:r>
              <a:rPr lang="en-US" altLang="en-US" dirty="0">
                <a:solidFill>
                  <a:srgbClr val="92D050"/>
                </a:solidFill>
              </a:rPr>
              <a:t>Volume</a:t>
            </a:r>
          </a:p>
          <a:p>
            <a:pPr lvl="2">
              <a:defRPr/>
            </a:pPr>
            <a:r>
              <a:rPr lang="en-US" altLang="en-US" dirty="0"/>
              <a:t>The size of the data</a:t>
            </a:r>
          </a:p>
          <a:p>
            <a:pPr lvl="1">
              <a:defRPr/>
            </a:pPr>
            <a:r>
              <a:rPr lang="en-US" altLang="en-US" dirty="0">
                <a:solidFill>
                  <a:srgbClr val="92D050"/>
                </a:solidFill>
              </a:rPr>
              <a:t>Velocity</a:t>
            </a:r>
          </a:p>
          <a:p>
            <a:pPr lvl="2">
              <a:defRPr/>
            </a:pPr>
            <a:r>
              <a:rPr lang="en-US" dirty="0"/>
              <a:t>The latency of data processing relative to the growing demand for interactivity</a:t>
            </a:r>
          </a:p>
          <a:p>
            <a:pPr lvl="1">
              <a:defRPr/>
            </a:pPr>
            <a:r>
              <a:rPr lang="en-US" altLang="en-US" dirty="0">
                <a:solidFill>
                  <a:srgbClr val="92D050"/>
                </a:solidFill>
              </a:rPr>
              <a:t>Variety and Complexity</a:t>
            </a:r>
          </a:p>
          <a:p>
            <a:pPr lvl="2">
              <a:defRPr/>
            </a:pPr>
            <a:r>
              <a:rPr lang="en-US" dirty="0"/>
              <a:t>the diversity of sources, formats, quality, structures.</a:t>
            </a:r>
          </a:p>
          <a:p>
            <a:pPr marL="914400" lvl="2" indent="0">
              <a:buNone/>
              <a:defRPr/>
            </a:pPr>
            <a:endParaRPr lang="en-US" altLang="en-US" dirty="0"/>
          </a:p>
          <a:p>
            <a:endParaRPr lang="en-IN" dirty="0"/>
          </a:p>
        </p:txBody>
      </p:sp>
    </p:spTree>
    <p:extLst>
      <p:ext uri="{BB962C8B-B14F-4D97-AF65-F5344CB8AC3E}">
        <p14:creationId xmlns:p14="http://schemas.microsoft.com/office/powerpoint/2010/main" val="1382828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4" name="Content Placeholder 3"/>
          <p:cNvPicPr>
            <a:picLocks noGrp="1" noChangeAspect="1"/>
          </p:cNvPicPr>
          <p:nvPr>
            <p:ph idx="1"/>
          </p:nvPr>
        </p:nvPicPr>
        <p:blipFill>
          <a:blip r:embed="rId2"/>
          <a:stretch>
            <a:fillRect/>
          </a:stretch>
        </p:blipFill>
        <p:spPr>
          <a:xfrm>
            <a:off x="2503781" y="1027113"/>
            <a:ext cx="7222538" cy="5267325"/>
          </a:xfrm>
          <a:prstGeom prst="rect">
            <a:avLst/>
          </a:prstGeom>
        </p:spPr>
      </p:pic>
    </p:spTree>
    <p:extLst>
      <p:ext uri="{BB962C8B-B14F-4D97-AF65-F5344CB8AC3E}">
        <p14:creationId xmlns:p14="http://schemas.microsoft.com/office/powerpoint/2010/main" val="20074524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sz="2600" dirty="0"/>
              <a:t>“… the job in the next 10 years will be statisticians,” </a:t>
            </a:r>
            <a:r>
              <a:rPr lang="en-US" sz="1400" dirty="0"/>
              <a:t>Hal Varian, Google Chief Economist</a:t>
            </a:r>
          </a:p>
          <a:p>
            <a:endParaRPr lang="en-US" sz="1400" dirty="0"/>
          </a:p>
          <a:p>
            <a:r>
              <a:rPr lang="en-US" sz="2600" dirty="0"/>
              <a:t>The U.S. will need 140,000-190,000 predictive analysts and 1.5 million managers/analysts by 2018. </a:t>
            </a:r>
            <a:r>
              <a:rPr lang="en-US" sz="1400" dirty="0"/>
              <a:t>McKinsey Global Institute’s June 2011</a:t>
            </a:r>
          </a:p>
          <a:p>
            <a:endParaRPr lang="en-US" sz="1400" dirty="0"/>
          </a:p>
          <a:p>
            <a:r>
              <a:rPr lang="en-US" sz="2600" dirty="0"/>
              <a:t>New Data Science institutes being created or repurposed – NYU, Columbia, Washington, UCB,...</a:t>
            </a:r>
          </a:p>
          <a:p>
            <a:endParaRPr lang="en-US" sz="2600" dirty="0"/>
          </a:p>
          <a:p>
            <a:r>
              <a:rPr lang="en-US" sz="2600" dirty="0"/>
              <a:t>New degree programs, courses, boot-camps:</a:t>
            </a:r>
          </a:p>
          <a:p>
            <a:pPr lvl="1"/>
            <a:r>
              <a:rPr lang="en-US" sz="2200" dirty="0"/>
              <a:t>e.g., at Berkeley: Stats, I-School, CS, Astronomy…</a:t>
            </a:r>
          </a:p>
          <a:p>
            <a:pPr lvl="1"/>
            <a:r>
              <a:rPr lang="en-US" sz="2200" dirty="0"/>
              <a:t>One proposal (elsewhere) for an MS in “Big Data Science”</a:t>
            </a:r>
          </a:p>
          <a:p>
            <a:endParaRPr lang="en-IN" dirty="0"/>
          </a:p>
        </p:txBody>
      </p:sp>
    </p:spTree>
    <p:extLst>
      <p:ext uri="{BB962C8B-B14F-4D97-AF65-F5344CB8AC3E}">
        <p14:creationId xmlns:p14="http://schemas.microsoft.com/office/powerpoint/2010/main" val="1696679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Analysis</a:t>
            </a:r>
            <a:endParaRPr lang="en-IN" dirty="0"/>
          </a:p>
        </p:txBody>
      </p:sp>
      <p:sp>
        <p:nvSpPr>
          <p:cNvPr id="3" name="Content Placeholder 2"/>
          <p:cNvSpPr>
            <a:spLocks noGrp="1"/>
          </p:cNvSpPr>
          <p:nvPr>
            <p:ph idx="1"/>
          </p:nvPr>
        </p:nvSpPr>
        <p:spPr/>
        <p:txBody>
          <a:bodyPr/>
          <a:lstStyle/>
          <a:p>
            <a:endParaRPr lang="en-IN" dirty="0"/>
          </a:p>
        </p:txBody>
      </p:sp>
    </p:spTree>
    <p:extLst>
      <p:ext uri="{BB962C8B-B14F-4D97-AF65-F5344CB8AC3E}">
        <p14:creationId xmlns:p14="http://schemas.microsoft.com/office/powerpoint/2010/main" val="33550737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Analytics	</a:t>
            </a:r>
            <a:endParaRPr lang="en-IN" dirty="0"/>
          </a:p>
        </p:txBody>
      </p:sp>
      <p:sp>
        <p:nvSpPr>
          <p:cNvPr id="3" name="Content Placeholder 2"/>
          <p:cNvSpPr>
            <a:spLocks noGrp="1"/>
          </p:cNvSpPr>
          <p:nvPr>
            <p:ph idx="1"/>
          </p:nvPr>
        </p:nvSpPr>
        <p:spPr/>
        <p:txBody>
          <a:bodyPr/>
          <a:lstStyle/>
          <a:p>
            <a:r>
              <a:rPr lang="en-US" dirty="0"/>
              <a:t>Analytics – Analytics is the discovery, interpretation, and communication of meaningful patterns or summery in data.</a:t>
            </a:r>
          </a:p>
          <a:p>
            <a:r>
              <a:rPr lang="en-US" dirty="0"/>
              <a:t>Data Analytics (DA) is the process of examining data sets in order to draw conclusion about the information it contains.</a:t>
            </a:r>
          </a:p>
          <a:p>
            <a:r>
              <a:rPr lang="en-US" dirty="0"/>
              <a:t>Analytics is not a tool or technology, rather it is the way of thinking and acting on data.</a:t>
            </a:r>
            <a:endParaRPr lang="en-IN" dirty="0"/>
          </a:p>
          <a:p>
            <a:endParaRPr lang="en-IN" dirty="0"/>
          </a:p>
        </p:txBody>
      </p:sp>
    </p:spTree>
    <p:extLst>
      <p:ext uri="{BB962C8B-B14F-4D97-AF65-F5344CB8AC3E}">
        <p14:creationId xmlns:p14="http://schemas.microsoft.com/office/powerpoint/2010/main" val="185324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of Data Analytics</a:t>
            </a:r>
            <a:endParaRPr lang="en-IN" dirty="0"/>
          </a:p>
        </p:txBody>
      </p:sp>
      <p:sp>
        <p:nvSpPr>
          <p:cNvPr id="3" name="Content Placeholder 2"/>
          <p:cNvSpPr>
            <a:spLocks noGrp="1"/>
          </p:cNvSpPr>
          <p:nvPr>
            <p:ph idx="1"/>
          </p:nvPr>
        </p:nvSpPr>
        <p:spPr/>
        <p:txBody>
          <a:bodyPr/>
          <a:lstStyle/>
          <a:p>
            <a:r>
              <a:rPr lang="en-US" dirty="0"/>
              <a:t>Healthcare</a:t>
            </a:r>
          </a:p>
          <a:p>
            <a:r>
              <a:rPr lang="en-US" dirty="0"/>
              <a:t>Travel </a:t>
            </a:r>
          </a:p>
          <a:p>
            <a:r>
              <a:rPr lang="en-US" dirty="0"/>
              <a:t>Gaming</a:t>
            </a:r>
          </a:p>
          <a:p>
            <a:r>
              <a:rPr lang="en-US" dirty="0"/>
              <a:t>Energy Management </a:t>
            </a:r>
          </a:p>
          <a:p>
            <a:endParaRPr lang="en-IN" dirty="0"/>
          </a:p>
          <a:p>
            <a:endParaRPr lang="en-IN" dirty="0"/>
          </a:p>
        </p:txBody>
      </p:sp>
    </p:spTree>
    <p:extLst>
      <p:ext uri="{BB962C8B-B14F-4D97-AF65-F5344CB8AC3E}">
        <p14:creationId xmlns:p14="http://schemas.microsoft.com/office/powerpoint/2010/main" val="37555938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Data Analytics</a:t>
            </a:r>
            <a:endParaRPr lang="en-IN" dirty="0"/>
          </a:p>
        </p:txBody>
      </p:sp>
      <p:sp>
        <p:nvSpPr>
          <p:cNvPr id="3" name="Content Placeholder 2"/>
          <p:cNvSpPr>
            <a:spLocks noGrp="1"/>
          </p:cNvSpPr>
          <p:nvPr>
            <p:ph idx="1"/>
          </p:nvPr>
        </p:nvSpPr>
        <p:spPr/>
        <p:txBody>
          <a:bodyPr/>
          <a:lstStyle/>
          <a:p>
            <a:r>
              <a:rPr lang="en-US" dirty="0"/>
              <a:t>Descriptive Analytics</a:t>
            </a:r>
          </a:p>
          <a:p>
            <a:r>
              <a:rPr lang="en-US" dirty="0"/>
              <a:t>Predictive Analytics</a:t>
            </a:r>
          </a:p>
          <a:p>
            <a:r>
              <a:rPr lang="en-US" dirty="0"/>
              <a:t>Prescriptive </a:t>
            </a:r>
            <a:r>
              <a:rPr lang="en-US" dirty="0" smtClean="0"/>
              <a:t>Analytics</a:t>
            </a:r>
            <a:endParaRPr lang="en-US" dirty="0"/>
          </a:p>
        </p:txBody>
      </p:sp>
      <p:pic>
        <p:nvPicPr>
          <p:cNvPr id="4" name="Content Placeholder 3"/>
          <p:cNvPicPr>
            <a:picLocks noChangeAspect="1"/>
          </p:cNvPicPr>
          <p:nvPr/>
        </p:nvPicPr>
        <p:blipFill rotWithShape="1">
          <a:blip r:embed="rId2"/>
          <a:srcRect t="2519"/>
          <a:stretch/>
        </p:blipFill>
        <p:spPr>
          <a:xfrm>
            <a:off x="5211615" y="1475874"/>
            <a:ext cx="6098069" cy="4170947"/>
          </a:xfrm>
          <a:prstGeom prst="rect">
            <a:avLst/>
          </a:prstGeom>
        </p:spPr>
      </p:pic>
    </p:spTree>
    <p:extLst>
      <p:ext uri="{BB962C8B-B14F-4D97-AF65-F5344CB8AC3E}">
        <p14:creationId xmlns:p14="http://schemas.microsoft.com/office/powerpoint/2010/main" val="17471068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Data Analytics</a:t>
            </a:r>
            <a:endParaRPr lang="en-IN" dirty="0"/>
          </a:p>
        </p:txBody>
      </p:sp>
      <p:pic>
        <p:nvPicPr>
          <p:cNvPr id="4" name="Content Placeholder 3"/>
          <p:cNvPicPr>
            <a:picLocks noGrp="1" noChangeAspect="1"/>
          </p:cNvPicPr>
          <p:nvPr>
            <p:ph idx="1"/>
          </p:nvPr>
        </p:nvPicPr>
        <p:blipFill>
          <a:blip r:embed="rId2"/>
          <a:stretch>
            <a:fillRect/>
          </a:stretch>
        </p:blipFill>
        <p:spPr>
          <a:xfrm>
            <a:off x="1107537" y="1379621"/>
            <a:ext cx="10202147" cy="4058653"/>
          </a:xfrm>
          <a:prstGeom prst="rect">
            <a:avLst/>
          </a:prstGeom>
        </p:spPr>
      </p:pic>
    </p:spTree>
    <p:extLst>
      <p:ext uri="{BB962C8B-B14F-4D97-AF65-F5344CB8AC3E}">
        <p14:creationId xmlns:p14="http://schemas.microsoft.com/office/powerpoint/2010/main" val="26245329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is Data Science?</a:t>
            </a:r>
          </a:p>
        </p:txBody>
      </p:sp>
      <p:sp>
        <p:nvSpPr>
          <p:cNvPr id="3" name="Content Placeholder 2"/>
          <p:cNvSpPr>
            <a:spLocks noGrp="1"/>
          </p:cNvSpPr>
          <p:nvPr>
            <p:ph idx="1"/>
          </p:nvPr>
        </p:nvSpPr>
        <p:spPr/>
        <p:txBody>
          <a:bodyPr/>
          <a:lstStyle/>
          <a:p>
            <a:r>
              <a:rPr lang="en-US" dirty="0"/>
              <a:t>Data Science is a combination of multiple disciplines that uses statistics, data analysis, and machine learning to analyze data and to extract knowledge and insights from it.</a:t>
            </a:r>
          </a:p>
          <a:p>
            <a:r>
              <a:rPr lang="en-US" dirty="0"/>
              <a:t>Data Science is about data gathering, analysis and decision-making.</a:t>
            </a:r>
          </a:p>
          <a:p>
            <a:r>
              <a:rPr lang="en-US" dirty="0"/>
              <a:t>Data Science is about finding patterns in data, through analysis, and make future predictions.</a:t>
            </a:r>
          </a:p>
          <a:p>
            <a:r>
              <a:rPr lang="en-US" dirty="0"/>
              <a:t>By using Data Science, companies are able to make:</a:t>
            </a:r>
          </a:p>
          <a:p>
            <a:pPr lvl="1"/>
            <a:r>
              <a:rPr lang="en-US" dirty="0"/>
              <a:t>Better decisions (should we choose A or B)</a:t>
            </a:r>
          </a:p>
          <a:p>
            <a:pPr lvl="1"/>
            <a:r>
              <a:rPr lang="en-US" dirty="0"/>
              <a:t>Predictive analysis (what will happen next?)</a:t>
            </a:r>
          </a:p>
          <a:p>
            <a:pPr lvl="1"/>
            <a:r>
              <a:rPr lang="en-US" dirty="0"/>
              <a:t>Pattern discoveries (find pattern, or maybe hidden information in the data)</a:t>
            </a:r>
          </a:p>
          <a:p>
            <a:endParaRPr lang="en-US" dirty="0"/>
          </a:p>
          <a:p>
            <a:endParaRPr lang="en-IN" dirty="0"/>
          </a:p>
        </p:txBody>
      </p:sp>
    </p:spTree>
    <p:extLst>
      <p:ext uri="{BB962C8B-B14F-4D97-AF65-F5344CB8AC3E}">
        <p14:creationId xmlns:p14="http://schemas.microsoft.com/office/powerpoint/2010/main" val="34862433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Science is Multidisciplinary </a:t>
            </a:r>
            <a:endParaRPr lang="en-IN" dirty="0"/>
          </a:p>
        </p:txBody>
      </p:sp>
      <p:pic>
        <p:nvPicPr>
          <p:cNvPr id="4" name="Picture 2" descr="[image%255B3%255D.png]"/>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0027"/>
          <a:stretch/>
        </p:blipFill>
        <p:spPr bwMode="auto">
          <a:xfrm>
            <a:off x="3180474" y="1315343"/>
            <a:ext cx="5869151" cy="46908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73201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Where is Data Science Needed?</a:t>
            </a:r>
            <a:endParaRPr lang="en-IN" dirty="0"/>
          </a:p>
        </p:txBody>
      </p:sp>
      <p:sp>
        <p:nvSpPr>
          <p:cNvPr id="3" name="Content Placeholder 2"/>
          <p:cNvSpPr>
            <a:spLocks noGrp="1"/>
          </p:cNvSpPr>
          <p:nvPr>
            <p:ph idx="1"/>
          </p:nvPr>
        </p:nvSpPr>
        <p:spPr/>
        <p:txBody>
          <a:bodyPr>
            <a:normAutofit lnSpcReduction="10000"/>
          </a:bodyPr>
          <a:lstStyle/>
          <a:p>
            <a:r>
              <a:rPr lang="en-US" dirty="0"/>
              <a:t>Data Science is used in many industries in the world today, e.g. banking, consultancy, healthcare, and manufacturing.</a:t>
            </a:r>
          </a:p>
          <a:p>
            <a:r>
              <a:rPr lang="en-US" b="1" dirty="0"/>
              <a:t>Examples </a:t>
            </a:r>
          </a:p>
          <a:p>
            <a:r>
              <a:rPr lang="en-US" dirty="0"/>
              <a:t>For route planning: To discover the best routes to ship</a:t>
            </a:r>
          </a:p>
          <a:p>
            <a:r>
              <a:rPr lang="en-US" dirty="0"/>
              <a:t>To foresee delays for flight/ship/train etc. (through predictive analysis)</a:t>
            </a:r>
          </a:p>
          <a:p>
            <a:r>
              <a:rPr lang="en-US" dirty="0"/>
              <a:t>To create promotional offers</a:t>
            </a:r>
          </a:p>
          <a:p>
            <a:r>
              <a:rPr lang="en-US" dirty="0"/>
              <a:t>To find the best suited time to deliver goods</a:t>
            </a:r>
          </a:p>
          <a:p>
            <a:r>
              <a:rPr lang="en-US" dirty="0"/>
              <a:t>To forecast the next years revenue for a company</a:t>
            </a:r>
          </a:p>
          <a:p>
            <a:r>
              <a:rPr lang="en-US" dirty="0"/>
              <a:t>To analyze health benefit of training</a:t>
            </a:r>
          </a:p>
          <a:p>
            <a:r>
              <a:rPr lang="en-US" dirty="0"/>
              <a:t>To predict who will win </a:t>
            </a:r>
            <a:r>
              <a:rPr lang="en-US" dirty="0" smtClean="0"/>
              <a:t>elections</a:t>
            </a:r>
            <a:endParaRPr lang="en-US" dirty="0"/>
          </a:p>
        </p:txBody>
      </p:sp>
    </p:spTree>
    <p:extLst>
      <p:ext uri="{BB962C8B-B14F-4D97-AF65-F5344CB8AC3E}">
        <p14:creationId xmlns:p14="http://schemas.microsoft.com/office/powerpoint/2010/main" val="21286939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Science Lifecycle</a:t>
            </a:r>
            <a:endParaRPr lang="en-IN" dirty="0"/>
          </a:p>
        </p:txBody>
      </p:sp>
      <p:pic>
        <p:nvPicPr>
          <p:cNvPr id="4" name="Picture 2" descr="The seven steps of the Dataiku data process, from defining the goal to iteration"/>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9900" y="1229449"/>
            <a:ext cx="11290300" cy="48626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62867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1: Understand the Business</a:t>
            </a:r>
            <a:endParaRPr lang="en-IN" dirty="0"/>
          </a:p>
        </p:txBody>
      </p:sp>
      <p:sp>
        <p:nvSpPr>
          <p:cNvPr id="3" name="Content Placeholder 2"/>
          <p:cNvSpPr>
            <a:spLocks noGrp="1"/>
          </p:cNvSpPr>
          <p:nvPr>
            <p:ph idx="1"/>
          </p:nvPr>
        </p:nvSpPr>
        <p:spPr/>
        <p:txBody>
          <a:bodyPr/>
          <a:lstStyle/>
          <a:p>
            <a:r>
              <a:rPr lang="en-US" dirty="0"/>
              <a:t>Understanding the business or activity that your data project is part of is key to ensuring its success and the first phase of any sound data analytics project. To motivate the different actors necessary to getting your project from design to production, your project must be the answer to a clear organizational need. Before you even think about the data, go out and talk to the people in your organization whose processes or whose business you aim to improve with data. Then, sit down to define a timeline and concrete key performance indicators. I know, planning and processes seem boring, but, in the end, they are an essential first step to </a:t>
            </a:r>
            <a:r>
              <a:rPr lang="en-US" dirty="0" err="1"/>
              <a:t>kickstart</a:t>
            </a:r>
            <a:r>
              <a:rPr lang="en-US" dirty="0"/>
              <a:t> your data initiative!</a:t>
            </a:r>
          </a:p>
          <a:p>
            <a:endParaRPr lang="en-IN" dirty="0"/>
          </a:p>
          <a:p>
            <a:endParaRPr lang="en-IN" dirty="0"/>
          </a:p>
        </p:txBody>
      </p:sp>
    </p:spTree>
    <p:extLst>
      <p:ext uri="{BB962C8B-B14F-4D97-AF65-F5344CB8AC3E}">
        <p14:creationId xmlns:p14="http://schemas.microsoft.com/office/powerpoint/2010/main" val="5176640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 Get Your Data</a:t>
            </a:r>
            <a:endParaRPr lang="en-IN" dirty="0"/>
          </a:p>
        </p:txBody>
      </p:sp>
      <p:sp>
        <p:nvSpPr>
          <p:cNvPr id="3" name="Content Placeholder 2"/>
          <p:cNvSpPr>
            <a:spLocks noGrp="1"/>
          </p:cNvSpPr>
          <p:nvPr>
            <p:ph idx="1"/>
          </p:nvPr>
        </p:nvSpPr>
        <p:spPr/>
        <p:txBody>
          <a:bodyPr/>
          <a:lstStyle/>
          <a:p>
            <a:r>
              <a:rPr lang="en-US" dirty="0"/>
              <a:t>Once you’ve gotten your goal figured out, it’s time to start looking for your data, the second phase of a data analytics project. Mixing and merging data from as many data sources as possible is what makes a data project great, so look as far as possible.</a:t>
            </a:r>
          </a:p>
          <a:p>
            <a:endParaRPr lang="en-IN" dirty="0"/>
          </a:p>
        </p:txBody>
      </p:sp>
    </p:spTree>
    <p:extLst>
      <p:ext uri="{BB962C8B-B14F-4D97-AF65-F5344CB8AC3E}">
        <p14:creationId xmlns:p14="http://schemas.microsoft.com/office/powerpoint/2010/main" val="41094437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3: Explore and Clean Your Data</a:t>
            </a:r>
            <a:endParaRPr lang="en-IN" dirty="0"/>
          </a:p>
        </p:txBody>
      </p:sp>
      <p:sp>
        <p:nvSpPr>
          <p:cNvPr id="3" name="Content Placeholder 2"/>
          <p:cNvSpPr>
            <a:spLocks noGrp="1"/>
          </p:cNvSpPr>
          <p:nvPr>
            <p:ph idx="1"/>
          </p:nvPr>
        </p:nvSpPr>
        <p:spPr/>
        <p:txBody>
          <a:bodyPr/>
          <a:lstStyle/>
          <a:p>
            <a:r>
              <a:rPr lang="en-US" dirty="0"/>
              <a:t>Once you’ve gotten your data, it’s time to get to work on it in the third data analytics project phase. Start digging to see what you’ve got and how you can link everything together to achieve your original goal. Start taking notes on your first analyses and ask questions to business people, the IT team, or other groups to understand what all your variables mean.</a:t>
            </a:r>
          </a:p>
          <a:p>
            <a:endParaRPr lang="en-IN" dirty="0"/>
          </a:p>
          <a:p>
            <a:endParaRPr lang="en-IN" dirty="0"/>
          </a:p>
        </p:txBody>
      </p:sp>
    </p:spTree>
    <p:extLst>
      <p:ext uri="{BB962C8B-B14F-4D97-AF65-F5344CB8AC3E}">
        <p14:creationId xmlns:p14="http://schemas.microsoft.com/office/powerpoint/2010/main" val="8106193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4: Enrich Your Dataset</a:t>
            </a:r>
            <a:endParaRPr lang="en-IN" dirty="0"/>
          </a:p>
        </p:txBody>
      </p:sp>
      <p:sp>
        <p:nvSpPr>
          <p:cNvPr id="3" name="Content Placeholder 2"/>
          <p:cNvSpPr>
            <a:spLocks noGrp="1"/>
          </p:cNvSpPr>
          <p:nvPr>
            <p:ph idx="1"/>
          </p:nvPr>
        </p:nvSpPr>
        <p:spPr/>
        <p:txBody>
          <a:bodyPr/>
          <a:lstStyle/>
          <a:p>
            <a:r>
              <a:rPr lang="en-US" dirty="0"/>
              <a:t>Now that you have clean data, it’s time to manipulate it in order to get the most value out of it. You should start the data enrichment phase of the project by joining all your different sources and group logs to narrow your data down to the essential features. One example of that is to enrich your data by creating time-based features, such as:</a:t>
            </a:r>
          </a:p>
          <a:p>
            <a:r>
              <a:rPr lang="en-US" dirty="0"/>
              <a:t>Extracting date components (month, hour, day of the week, week of the year, etc.)</a:t>
            </a:r>
          </a:p>
          <a:p>
            <a:r>
              <a:rPr lang="en-US" dirty="0"/>
              <a:t>Calculating differences between date columns</a:t>
            </a:r>
          </a:p>
          <a:p>
            <a:r>
              <a:rPr lang="en-US" dirty="0"/>
              <a:t>Flagging national holidays</a:t>
            </a:r>
          </a:p>
          <a:p>
            <a:endParaRPr lang="en-US" dirty="0"/>
          </a:p>
          <a:p>
            <a:endParaRPr lang="en-IN" dirty="0"/>
          </a:p>
          <a:p>
            <a:endParaRPr lang="en-IN" dirty="0"/>
          </a:p>
        </p:txBody>
      </p:sp>
    </p:spTree>
    <p:extLst>
      <p:ext uri="{BB962C8B-B14F-4D97-AF65-F5344CB8AC3E}">
        <p14:creationId xmlns:p14="http://schemas.microsoft.com/office/powerpoint/2010/main" val="32776026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5: Build Helpful Visualizations</a:t>
            </a:r>
            <a:endParaRPr lang="en-IN" dirty="0"/>
          </a:p>
        </p:txBody>
      </p:sp>
      <p:sp>
        <p:nvSpPr>
          <p:cNvPr id="3" name="Content Placeholder 2"/>
          <p:cNvSpPr>
            <a:spLocks noGrp="1"/>
          </p:cNvSpPr>
          <p:nvPr>
            <p:ph idx="1"/>
          </p:nvPr>
        </p:nvSpPr>
        <p:spPr/>
        <p:txBody>
          <a:bodyPr/>
          <a:lstStyle/>
          <a:p>
            <a:r>
              <a:rPr lang="en-US" dirty="0"/>
              <a:t>You now have a nice dataset (or maybe several), so this is a good time to start exploring it by building graphs. When you’re dealing with large volumes of data, visualization is the best way to explore and communicate your findings and is the next phase of your data analytics project.</a:t>
            </a:r>
          </a:p>
          <a:p>
            <a:endParaRPr lang="en-IN" dirty="0"/>
          </a:p>
        </p:txBody>
      </p:sp>
    </p:spTree>
    <p:extLst>
      <p:ext uri="{BB962C8B-B14F-4D97-AF65-F5344CB8AC3E}">
        <p14:creationId xmlns:p14="http://schemas.microsoft.com/office/powerpoint/2010/main" val="11419707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6: Get Predictive</a:t>
            </a:r>
            <a:endParaRPr lang="en-IN" dirty="0"/>
          </a:p>
        </p:txBody>
      </p:sp>
      <p:sp>
        <p:nvSpPr>
          <p:cNvPr id="3" name="Content Placeholder 2"/>
          <p:cNvSpPr>
            <a:spLocks noGrp="1"/>
          </p:cNvSpPr>
          <p:nvPr>
            <p:ph idx="1"/>
          </p:nvPr>
        </p:nvSpPr>
        <p:spPr/>
        <p:txBody>
          <a:bodyPr/>
          <a:lstStyle/>
          <a:p>
            <a:r>
              <a:rPr lang="en-US" dirty="0"/>
              <a:t>The next data science step, phase six of the data project, is when the real fun starts. Machine learning algorithms can help you go a step further into getting insights and predicting future trends.</a:t>
            </a:r>
          </a:p>
          <a:p>
            <a:r>
              <a:rPr lang="en-US" dirty="0"/>
              <a:t>By working with clustering algorithms (aka unsupervised), you can build models to uncover trends in the data that were not distinguishable in graphs and stats. These create groups of similar events (or clusters) and more or less explicitly express what feature is decisive in these results.</a:t>
            </a:r>
          </a:p>
          <a:p>
            <a:endParaRPr lang="en-US" dirty="0"/>
          </a:p>
          <a:p>
            <a:endParaRPr lang="en-IN" dirty="0"/>
          </a:p>
          <a:p>
            <a:endParaRPr lang="en-IN" dirty="0"/>
          </a:p>
        </p:txBody>
      </p:sp>
    </p:spTree>
    <p:extLst>
      <p:ext uri="{BB962C8B-B14F-4D97-AF65-F5344CB8AC3E}">
        <p14:creationId xmlns:p14="http://schemas.microsoft.com/office/powerpoint/2010/main" val="26951158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7: Iterate, Iterate, Iterate</a:t>
            </a:r>
            <a:endParaRPr lang="en-IN" dirty="0"/>
          </a:p>
        </p:txBody>
      </p:sp>
      <p:sp>
        <p:nvSpPr>
          <p:cNvPr id="3" name="Content Placeholder 2"/>
          <p:cNvSpPr>
            <a:spLocks noGrp="1"/>
          </p:cNvSpPr>
          <p:nvPr>
            <p:ph idx="1"/>
          </p:nvPr>
        </p:nvSpPr>
        <p:spPr/>
        <p:txBody>
          <a:bodyPr/>
          <a:lstStyle/>
          <a:p>
            <a:r>
              <a:rPr lang="en-US" dirty="0"/>
              <a:t>The main goal in any business project is to prove its effectiveness as fast as possible to justify, well, your job. The same goes for data projects. By gaining time on data cleaning and enriching, you can go to the end of the project fast and get your initial results. This is the final phase of completing your data analytics project and one that is critical to the entire data life cycle. </a:t>
            </a:r>
          </a:p>
          <a:p>
            <a:endParaRPr lang="en-IN" dirty="0"/>
          </a:p>
          <a:p>
            <a:endParaRPr lang="en-IN" dirty="0"/>
          </a:p>
        </p:txBody>
      </p:sp>
    </p:spTree>
    <p:extLst>
      <p:ext uri="{BB962C8B-B14F-4D97-AF65-F5344CB8AC3E}">
        <p14:creationId xmlns:p14="http://schemas.microsoft.com/office/powerpoint/2010/main" val="14455054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Roles in Data Science</a:t>
            </a:r>
          </a:p>
        </p:txBody>
      </p:sp>
      <p:sp>
        <p:nvSpPr>
          <p:cNvPr id="3" name="Content Placeholder 2"/>
          <p:cNvSpPr>
            <a:spLocks noGrp="1"/>
          </p:cNvSpPr>
          <p:nvPr>
            <p:ph idx="1"/>
          </p:nvPr>
        </p:nvSpPr>
        <p:spPr/>
        <p:txBody>
          <a:bodyPr/>
          <a:lstStyle/>
          <a:p>
            <a:pPr marL="514350" indent="-514350">
              <a:buAutoNum type="arabicPeriod"/>
            </a:pPr>
            <a:r>
              <a:rPr lang="en-IN" b="1" dirty="0" smtClean="0"/>
              <a:t>Data Scientist</a:t>
            </a:r>
          </a:p>
          <a:p>
            <a:pPr marL="0" indent="0">
              <a:buNone/>
            </a:pPr>
            <a:endParaRPr lang="en-IN" b="1" dirty="0"/>
          </a:p>
          <a:p>
            <a:r>
              <a:rPr lang="en-IN" b="1" dirty="0"/>
              <a:t>Primary responsibilities:</a:t>
            </a:r>
            <a:endParaRPr lang="en-IN" dirty="0"/>
          </a:p>
          <a:p>
            <a:pPr lvl="1"/>
            <a:r>
              <a:rPr lang="en-IN" dirty="0"/>
              <a:t>Build predictive models and run experiments</a:t>
            </a:r>
          </a:p>
          <a:p>
            <a:pPr lvl="1"/>
            <a:r>
              <a:rPr lang="en-IN" dirty="0"/>
              <a:t>Perform exploratory data analysis (EDA)</a:t>
            </a:r>
          </a:p>
          <a:p>
            <a:pPr lvl="1"/>
            <a:r>
              <a:rPr lang="en-IN" dirty="0"/>
              <a:t>Interpret results and communicate insights</a:t>
            </a:r>
          </a:p>
          <a:p>
            <a:pPr lvl="1"/>
            <a:r>
              <a:rPr lang="en-IN" dirty="0"/>
              <a:t>Develop machine-learning pipelines</a:t>
            </a:r>
          </a:p>
          <a:p>
            <a:pPr marL="457200" lvl="1" indent="0">
              <a:buNone/>
            </a:pPr>
            <a:endParaRPr lang="en-IN" dirty="0"/>
          </a:p>
          <a:p>
            <a:r>
              <a:rPr lang="en-IN" b="1" dirty="0"/>
              <a:t>Skills:</a:t>
            </a:r>
            <a:r>
              <a:rPr lang="en-IN" dirty="0"/>
              <a:t> </a:t>
            </a:r>
            <a:r>
              <a:rPr lang="en-IN" dirty="0" smtClean="0"/>
              <a:t>Statistics</a:t>
            </a:r>
            <a:r>
              <a:rPr lang="en-IN" dirty="0"/>
              <a:t>, Python/R, ML algorithms, </a:t>
            </a:r>
            <a:r>
              <a:rPr lang="en-IN" dirty="0" smtClean="0"/>
              <a:t>Visualization</a:t>
            </a:r>
            <a:r>
              <a:rPr lang="en-IN" dirty="0"/>
              <a:t>, </a:t>
            </a:r>
            <a:r>
              <a:rPr lang="en-IN" dirty="0" smtClean="0"/>
              <a:t>Communication</a:t>
            </a:r>
            <a:r>
              <a:rPr lang="en-IN" dirty="0"/>
              <a:t>.</a:t>
            </a:r>
          </a:p>
          <a:p>
            <a:pPr marL="0" indent="0">
              <a:buNone/>
            </a:pPr>
            <a:endParaRPr lang="en-IN" dirty="0"/>
          </a:p>
          <a:p>
            <a:endParaRPr lang="en-IN" dirty="0"/>
          </a:p>
        </p:txBody>
      </p:sp>
    </p:spTree>
    <p:extLst>
      <p:ext uri="{BB962C8B-B14F-4D97-AF65-F5344CB8AC3E}">
        <p14:creationId xmlns:p14="http://schemas.microsoft.com/office/powerpoint/2010/main" val="26669184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Roles in Data Science</a:t>
            </a:r>
          </a:p>
        </p:txBody>
      </p:sp>
      <p:sp>
        <p:nvSpPr>
          <p:cNvPr id="3" name="Content Placeholder 2"/>
          <p:cNvSpPr>
            <a:spLocks noGrp="1"/>
          </p:cNvSpPr>
          <p:nvPr>
            <p:ph idx="1"/>
          </p:nvPr>
        </p:nvSpPr>
        <p:spPr/>
        <p:txBody>
          <a:bodyPr/>
          <a:lstStyle/>
          <a:p>
            <a:pPr marL="0" indent="0">
              <a:buNone/>
            </a:pPr>
            <a:r>
              <a:rPr lang="en-IN" b="1" dirty="0"/>
              <a:t>2. Data </a:t>
            </a:r>
            <a:r>
              <a:rPr lang="en-IN" b="1" dirty="0" smtClean="0"/>
              <a:t>Analyst</a:t>
            </a:r>
          </a:p>
          <a:p>
            <a:pPr marL="0" indent="0">
              <a:buNone/>
            </a:pPr>
            <a:endParaRPr lang="en-IN" b="1" dirty="0"/>
          </a:p>
          <a:p>
            <a:r>
              <a:rPr lang="en-IN" b="1" dirty="0"/>
              <a:t>Primary responsibilities:</a:t>
            </a:r>
            <a:endParaRPr lang="en-IN" dirty="0"/>
          </a:p>
          <a:p>
            <a:pPr lvl="1"/>
            <a:r>
              <a:rPr lang="en-IN" dirty="0" err="1"/>
              <a:t>Analyze</a:t>
            </a:r>
            <a:r>
              <a:rPr lang="en-IN" dirty="0"/>
              <a:t> historical data</a:t>
            </a:r>
          </a:p>
          <a:p>
            <a:pPr lvl="1"/>
            <a:r>
              <a:rPr lang="en-IN" dirty="0"/>
              <a:t>Create dashboards and reports</a:t>
            </a:r>
          </a:p>
          <a:p>
            <a:pPr lvl="1"/>
            <a:r>
              <a:rPr lang="en-IN" dirty="0"/>
              <a:t>Identify trends and insights</a:t>
            </a:r>
          </a:p>
          <a:p>
            <a:pPr lvl="1"/>
            <a:r>
              <a:rPr lang="en-IN" dirty="0"/>
              <a:t>Support business </a:t>
            </a:r>
            <a:r>
              <a:rPr lang="en-IN" dirty="0" smtClean="0"/>
              <a:t>decision-making</a:t>
            </a:r>
          </a:p>
          <a:p>
            <a:pPr lvl="1"/>
            <a:endParaRPr lang="en-IN" dirty="0"/>
          </a:p>
          <a:p>
            <a:r>
              <a:rPr lang="en-IN" b="1" dirty="0"/>
              <a:t>Skills:</a:t>
            </a:r>
            <a:r>
              <a:rPr lang="en-IN" dirty="0"/>
              <a:t> SQL, Excel, BI tools (Tableau/Power BI), </a:t>
            </a:r>
            <a:r>
              <a:rPr lang="en-IN" dirty="0" smtClean="0"/>
              <a:t>Data Visualization</a:t>
            </a:r>
            <a:r>
              <a:rPr lang="en-IN" dirty="0"/>
              <a:t>, </a:t>
            </a:r>
            <a:r>
              <a:rPr lang="en-IN" dirty="0" smtClean="0"/>
              <a:t>Basic Statistics</a:t>
            </a:r>
            <a:r>
              <a:rPr lang="en-IN" dirty="0"/>
              <a:t>.</a:t>
            </a:r>
          </a:p>
          <a:p>
            <a:pPr marL="0" indent="0">
              <a:buNone/>
            </a:pPr>
            <a:endParaRPr lang="en-IN" dirty="0"/>
          </a:p>
          <a:p>
            <a:endParaRPr lang="en-IN" dirty="0"/>
          </a:p>
        </p:txBody>
      </p:sp>
    </p:spTree>
    <p:extLst>
      <p:ext uri="{BB962C8B-B14F-4D97-AF65-F5344CB8AC3E}">
        <p14:creationId xmlns:p14="http://schemas.microsoft.com/office/powerpoint/2010/main" val="35708891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Roles in Data Science</a:t>
            </a:r>
          </a:p>
        </p:txBody>
      </p:sp>
      <p:sp>
        <p:nvSpPr>
          <p:cNvPr id="3" name="Content Placeholder 2"/>
          <p:cNvSpPr>
            <a:spLocks noGrp="1"/>
          </p:cNvSpPr>
          <p:nvPr>
            <p:ph idx="1"/>
          </p:nvPr>
        </p:nvSpPr>
        <p:spPr/>
        <p:txBody>
          <a:bodyPr/>
          <a:lstStyle/>
          <a:p>
            <a:pPr marL="0" indent="0">
              <a:buNone/>
            </a:pPr>
            <a:r>
              <a:rPr lang="en-IN" b="1" dirty="0"/>
              <a:t>3. Data </a:t>
            </a:r>
            <a:r>
              <a:rPr lang="en-IN" b="1" dirty="0" smtClean="0"/>
              <a:t>Engineer</a:t>
            </a:r>
          </a:p>
          <a:p>
            <a:pPr marL="0" indent="0">
              <a:buNone/>
            </a:pPr>
            <a:endParaRPr lang="en-IN" b="1" dirty="0"/>
          </a:p>
          <a:p>
            <a:r>
              <a:rPr lang="en-IN" b="1" dirty="0"/>
              <a:t>Primary responsibilities:</a:t>
            </a:r>
            <a:endParaRPr lang="en-IN" dirty="0"/>
          </a:p>
          <a:p>
            <a:pPr lvl="1"/>
            <a:r>
              <a:rPr lang="en-IN" dirty="0"/>
              <a:t>Build and maintain data pipelines</a:t>
            </a:r>
          </a:p>
          <a:p>
            <a:pPr lvl="1"/>
            <a:r>
              <a:rPr lang="en-IN" dirty="0"/>
              <a:t>Ensure data quality, availability, and scalability</a:t>
            </a:r>
          </a:p>
          <a:p>
            <a:pPr lvl="1"/>
            <a:r>
              <a:rPr lang="en-IN" dirty="0"/>
              <a:t>Work with databases, streaming systems, and cloud </a:t>
            </a:r>
            <a:r>
              <a:rPr lang="en-IN" dirty="0" smtClean="0"/>
              <a:t>platforms</a:t>
            </a:r>
          </a:p>
          <a:p>
            <a:pPr lvl="1"/>
            <a:endParaRPr lang="en-IN" dirty="0"/>
          </a:p>
          <a:p>
            <a:r>
              <a:rPr lang="en-IN" b="1" dirty="0"/>
              <a:t>Skills:</a:t>
            </a:r>
            <a:r>
              <a:rPr lang="en-IN" dirty="0"/>
              <a:t> ETL, SQL/NoSQL, Spark, Hadoop, </a:t>
            </a:r>
            <a:r>
              <a:rPr lang="en-IN" dirty="0" smtClean="0"/>
              <a:t>Cloud </a:t>
            </a:r>
            <a:r>
              <a:rPr lang="en-IN" dirty="0"/>
              <a:t>(AWS/Azure/GCP), Python/Scala.</a:t>
            </a:r>
          </a:p>
          <a:p>
            <a:endParaRPr lang="en-IN" dirty="0"/>
          </a:p>
          <a:p>
            <a:endParaRPr lang="en-IN" dirty="0"/>
          </a:p>
        </p:txBody>
      </p:sp>
    </p:spTree>
    <p:extLst>
      <p:ext uri="{BB962C8B-B14F-4D97-AF65-F5344CB8AC3E}">
        <p14:creationId xmlns:p14="http://schemas.microsoft.com/office/powerpoint/2010/main" val="25555512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Roles in Data Science</a:t>
            </a:r>
          </a:p>
        </p:txBody>
      </p:sp>
      <p:sp>
        <p:nvSpPr>
          <p:cNvPr id="3" name="Content Placeholder 2"/>
          <p:cNvSpPr>
            <a:spLocks noGrp="1"/>
          </p:cNvSpPr>
          <p:nvPr>
            <p:ph idx="1"/>
          </p:nvPr>
        </p:nvSpPr>
        <p:spPr/>
        <p:txBody>
          <a:bodyPr/>
          <a:lstStyle/>
          <a:p>
            <a:pPr marL="0" indent="0">
              <a:buNone/>
            </a:pPr>
            <a:r>
              <a:rPr lang="en-IN" b="1" dirty="0"/>
              <a:t>4. Machine Learning </a:t>
            </a:r>
            <a:r>
              <a:rPr lang="en-IN" b="1" dirty="0" smtClean="0"/>
              <a:t>Engineer</a:t>
            </a:r>
          </a:p>
          <a:p>
            <a:pPr marL="0" indent="0">
              <a:buNone/>
            </a:pPr>
            <a:endParaRPr lang="en-IN" b="1" dirty="0"/>
          </a:p>
          <a:p>
            <a:r>
              <a:rPr lang="en-IN" b="1" dirty="0"/>
              <a:t>Primary responsibilities:</a:t>
            </a:r>
            <a:endParaRPr lang="en-IN" dirty="0"/>
          </a:p>
          <a:p>
            <a:pPr lvl="1"/>
            <a:r>
              <a:rPr lang="en-IN" dirty="0"/>
              <a:t>Productionize and deploy ML models</a:t>
            </a:r>
          </a:p>
          <a:p>
            <a:pPr lvl="1"/>
            <a:r>
              <a:rPr lang="en-IN" dirty="0"/>
              <a:t>Optimize performance and scalability</a:t>
            </a:r>
          </a:p>
          <a:p>
            <a:pPr lvl="1"/>
            <a:r>
              <a:rPr lang="en-IN" dirty="0"/>
              <a:t>Build </a:t>
            </a:r>
            <a:r>
              <a:rPr lang="en-IN" dirty="0" err="1"/>
              <a:t>MLOps</a:t>
            </a:r>
            <a:r>
              <a:rPr lang="en-IN" dirty="0"/>
              <a:t> workflows</a:t>
            </a:r>
          </a:p>
          <a:p>
            <a:pPr lvl="1"/>
            <a:r>
              <a:rPr lang="en-IN" dirty="0"/>
              <a:t>Monitor and maintain models in </a:t>
            </a:r>
            <a:r>
              <a:rPr lang="en-IN" dirty="0" smtClean="0"/>
              <a:t>production</a:t>
            </a:r>
          </a:p>
          <a:p>
            <a:pPr lvl="1"/>
            <a:endParaRPr lang="en-IN" dirty="0"/>
          </a:p>
          <a:p>
            <a:r>
              <a:rPr lang="en-IN" b="1" dirty="0"/>
              <a:t>Skills:</a:t>
            </a:r>
            <a:r>
              <a:rPr lang="en-IN" dirty="0"/>
              <a:t> ML algorithms, </a:t>
            </a:r>
            <a:r>
              <a:rPr lang="en-IN" dirty="0" smtClean="0"/>
              <a:t>Cloud </a:t>
            </a:r>
            <a:r>
              <a:rPr lang="en-IN" dirty="0"/>
              <a:t>deployment, APIs, Docker/Kubernetes, CI/CD.</a:t>
            </a:r>
          </a:p>
          <a:p>
            <a:endParaRPr lang="en-IN" dirty="0"/>
          </a:p>
          <a:p>
            <a:endParaRPr lang="en-IN" dirty="0"/>
          </a:p>
        </p:txBody>
      </p:sp>
    </p:spTree>
    <p:extLst>
      <p:ext uri="{BB962C8B-B14F-4D97-AF65-F5344CB8AC3E}">
        <p14:creationId xmlns:p14="http://schemas.microsoft.com/office/powerpoint/2010/main" val="31585500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Roles in Data Science</a:t>
            </a:r>
          </a:p>
        </p:txBody>
      </p:sp>
      <p:sp>
        <p:nvSpPr>
          <p:cNvPr id="3" name="Content Placeholder 2"/>
          <p:cNvSpPr>
            <a:spLocks noGrp="1"/>
          </p:cNvSpPr>
          <p:nvPr>
            <p:ph idx="1"/>
          </p:nvPr>
        </p:nvSpPr>
        <p:spPr/>
        <p:txBody>
          <a:bodyPr/>
          <a:lstStyle/>
          <a:p>
            <a:pPr marL="0" indent="0">
              <a:buNone/>
            </a:pPr>
            <a:r>
              <a:rPr lang="en-US" b="1" dirty="0"/>
              <a:t>5. Business Analyst / Product Owner (Data</a:t>
            </a:r>
            <a:r>
              <a:rPr lang="en-US" b="1" dirty="0" smtClean="0"/>
              <a:t>)</a:t>
            </a:r>
          </a:p>
          <a:p>
            <a:pPr marL="0" indent="0">
              <a:buNone/>
            </a:pPr>
            <a:endParaRPr lang="en-US" b="1" dirty="0"/>
          </a:p>
          <a:p>
            <a:r>
              <a:rPr lang="en-US" b="1" dirty="0"/>
              <a:t>Primary responsibilities:</a:t>
            </a:r>
            <a:endParaRPr lang="en-US" dirty="0"/>
          </a:p>
          <a:p>
            <a:pPr lvl="1"/>
            <a:r>
              <a:rPr lang="en-US" dirty="0"/>
              <a:t>Translate business goals into data requirements</a:t>
            </a:r>
          </a:p>
          <a:p>
            <a:pPr lvl="1"/>
            <a:r>
              <a:rPr lang="en-US" dirty="0"/>
              <a:t>Define KPIs and evaluate impact</a:t>
            </a:r>
          </a:p>
          <a:p>
            <a:pPr lvl="1"/>
            <a:r>
              <a:rPr lang="en-US" dirty="0"/>
              <a:t>Coordinate between data teams and </a:t>
            </a:r>
            <a:r>
              <a:rPr lang="en-US" dirty="0" smtClean="0"/>
              <a:t>stakeholders</a:t>
            </a:r>
          </a:p>
          <a:p>
            <a:pPr lvl="1"/>
            <a:endParaRPr lang="en-US" dirty="0"/>
          </a:p>
          <a:p>
            <a:r>
              <a:rPr lang="en-US" b="1" dirty="0"/>
              <a:t>Skills:</a:t>
            </a:r>
            <a:r>
              <a:rPr lang="en-US" dirty="0"/>
              <a:t> </a:t>
            </a:r>
            <a:r>
              <a:rPr lang="en-US" dirty="0" smtClean="0"/>
              <a:t>Business Understanding</a:t>
            </a:r>
            <a:r>
              <a:rPr lang="en-US" dirty="0"/>
              <a:t>, </a:t>
            </a:r>
            <a:r>
              <a:rPr lang="en-US" dirty="0" smtClean="0"/>
              <a:t>Communication</a:t>
            </a:r>
            <a:r>
              <a:rPr lang="en-US" dirty="0"/>
              <a:t>, D</a:t>
            </a:r>
            <a:r>
              <a:rPr lang="en-US" dirty="0" smtClean="0"/>
              <a:t>ocumentation, Prioritization</a:t>
            </a:r>
            <a:r>
              <a:rPr lang="en-US" dirty="0"/>
              <a:t>.</a:t>
            </a:r>
          </a:p>
          <a:p>
            <a:pPr marL="0" indent="0">
              <a:buNone/>
            </a:pPr>
            <a:endParaRPr lang="en-IN" dirty="0"/>
          </a:p>
          <a:p>
            <a:endParaRPr lang="en-IN" dirty="0"/>
          </a:p>
        </p:txBody>
      </p:sp>
    </p:spTree>
    <p:extLst>
      <p:ext uri="{BB962C8B-B14F-4D97-AF65-F5344CB8AC3E}">
        <p14:creationId xmlns:p14="http://schemas.microsoft.com/office/powerpoint/2010/main" val="4046136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Challenges in Data </a:t>
            </a:r>
            <a:r>
              <a:rPr lang="en-IN" b="1" dirty="0" smtClean="0"/>
              <a:t>Science</a:t>
            </a:r>
            <a:endParaRPr lang="en-IN" dirty="0"/>
          </a:p>
        </p:txBody>
      </p:sp>
      <p:sp>
        <p:nvSpPr>
          <p:cNvPr id="3" name="Content Placeholder 2"/>
          <p:cNvSpPr>
            <a:spLocks noGrp="1"/>
          </p:cNvSpPr>
          <p:nvPr>
            <p:ph idx="1"/>
          </p:nvPr>
        </p:nvSpPr>
        <p:spPr/>
        <p:txBody>
          <a:bodyPr/>
          <a:lstStyle/>
          <a:p>
            <a:r>
              <a:rPr lang="en-US" dirty="0" smtClean="0"/>
              <a:t>Data </a:t>
            </a:r>
            <a:r>
              <a:rPr lang="en-US" dirty="0"/>
              <a:t>Availability and Quality</a:t>
            </a:r>
          </a:p>
          <a:p>
            <a:r>
              <a:rPr lang="en-IN" dirty="0"/>
              <a:t>Integration of Data</a:t>
            </a:r>
          </a:p>
          <a:p>
            <a:r>
              <a:rPr lang="en-IN" dirty="0"/>
              <a:t>The ability to scale</a:t>
            </a:r>
          </a:p>
          <a:p>
            <a:r>
              <a:rPr lang="en-IN" dirty="0" smtClean="0"/>
              <a:t>Data </a:t>
            </a:r>
            <a:r>
              <a:rPr lang="en-IN" dirty="0"/>
              <a:t>Security and Privacy</a:t>
            </a:r>
          </a:p>
          <a:p>
            <a:r>
              <a:rPr lang="en-IN" dirty="0"/>
              <a:t>Model Interpretability</a:t>
            </a:r>
          </a:p>
          <a:p>
            <a:r>
              <a:rPr lang="en-US" dirty="0"/>
              <a:t>Adapting to the Quick Advancements in Technology</a:t>
            </a:r>
          </a:p>
          <a:p>
            <a:r>
              <a:rPr lang="en-IN" dirty="0"/>
              <a:t>Lack of Talent</a:t>
            </a:r>
          </a:p>
          <a:p>
            <a:endParaRPr lang="en-IN" dirty="0"/>
          </a:p>
        </p:txBody>
      </p:sp>
    </p:spTree>
    <p:extLst>
      <p:ext uri="{BB962C8B-B14F-4D97-AF65-F5344CB8AC3E}">
        <p14:creationId xmlns:p14="http://schemas.microsoft.com/office/powerpoint/2010/main" val="167951669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Types of Data Sets </a:t>
            </a:r>
          </a:p>
        </p:txBody>
      </p:sp>
      <p:sp>
        <p:nvSpPr>
          <p:cNvPr id="7" name="Rectangle 6"/>
          <p:cNvSpPr/>
          <p:nvPr/>
        </p:nvSpPr>
        <p:spPr>
          <a:xfrm>
            <a:off x="357553" y="1037301"/>
            <a:ext cx="11696701" cy="1754326"/>
          </a:xfrm>
          <a:prstGeom prst="rect">
            <a:avLst/>
          </a:prstGeom>
        </p:spPr>
        <p:txBody>
          <a:bodyPr wrap="square">
            <a:spAutoFit/>
          </a:bodyPr>
          <a:lstStyle/>
          <a:p>
            <a:pPr algn="just">
              <a:buFont typeface="Arial" panose="020B0604020202020204" pitchFamily="34" charset="0"/>
              <a:buChar char="•"/>
            </a:pPr>
            <a:r>
              <a:rPr lang="en-US" b="1" dirty="0">
                <a:solidFill>
                  <a:srgbClr val="0A0A0A"/>
                </a:solidFill>
                <a:latin typeface="Google Sans"/>
              </a:rPr>
              <a:t>Structured Datasets</a:t>
            </a:r>
            <a:r>
              <a:rPr lang="en-US" dirty="0">
                <a:solidFill>
                  <a:srgbClr val="0A0A0A"/>
                </a:solidFill>
                <a:latin typeface="Google Sans"/>
              </a:rPr>
              <a:t>: Highly organized data with a well-defined schema, typically in tabular form (rows and columns) like </a:t>
            </a:r>
            <a:r>
              <a:rPr lang="en-US" dirty="0">
                <a:solidFill>
                  <a:srgbClr val="1A0DAB"/>
                </a:solidFill>
                <a:latin typeface="Google Sans"/>
                <a:hlinkClick r:id="rId2"/>
              </a:rPr>
              <a:t>CSV or SQL files</a:t>
            </a:r>
            <a:r>
              <a:rPr lang="en-US" dirty="0">
                <a:solidFill>
                  <a:srgbClr val="0A0A0A"/>
                </a:solidFill>
                <a:latin typeface="Google Sans"/>
              </a:rPr>
              <a:t>.</a:t>
            </a:r>
          </a:p>
          <a:p>
            <a:pPr algn="just">
              <a:buFont typeface="Arial" panose="020B0604020202020204" pitchFamily="34" charset="0"/>
              <a:buChar char="•"/>
            </a:pPr>
            <a:r>
              <a:rPr lang="en-US" b="1" dirty="0">
                <a:solidFill>
                  <a:srgbClr val="0A0A0A"/>
                </a:solidFill>
                <a:latin typeface="Google Sans"/>
              </a:rPr>
              <a:t>Semi-Structured Datasets</a:t>
            </a:r>
            <a:r>
              <a:rPr lang="en-US" dirty="0">
                <a:solidFill>
                  <a:srgbClr val="0A0A0A"/>
                </a:solidFill>
                <a:latin typeface="Google Sans"/>
              </a:rPr>
              <a:t>: Data that does not fit into rigid tables but contains tags or markers to separate elements, such as </a:t>
            </a:r>
            <a:r>
              <a:rPr lang="en-US" b="1" dirty="0">
                <a:solidFill>
                  <a:srgbClr val="0A0A0A"/>
                </a:solidFill>
                <a:latin typeface="Google Sans"/>
              </a:rPr>
              <a:t>JSON</a:t>
            </a:r>
            <a:r>
              <a:rPr lang="en-US" dirty="0">
                <a:solidFill>
                  <a:srgbClr val="0A0A0A"/>
                </a:solidFill>
                <a:latin typeface="Google Sans"/>
              </a:rPr>
              <a:t>, </a:t>
            </a:r>
            <a:r>
              <a:rPr lang="en-US" b="1" dirty="0">
                <a:solidFill>
                  <a:srgbClr val="0A0A0A"/>
                </a:solidFill>
                <a:latin typeface="Google Sans"/>
              </a:rPr>
              <a:t>XML</a:t>
            </a:r>
            <a:r>
              <a:rPr lang="en-US" dirty="0">
                <a:solidFill>
                  <a:srgbClr val="0A0A0A"/>
                </a:solidFill>
                <a:latin typeface="Google Sans"/>
              </a:rPr>
              <a:t>, or </a:t>
            </a:r>
            <a:r>
              <a:rPr lang="en-US" b="1" dirty="0">
                <a:solidFill>
                  <a:srgbClr val="0A0A0A"/>
                </a:solidFill>
                <a:latin typeface="Google Sans"/>
              </a:rPr>
              <a:t>YAML</a:t>
            </a:r>
            <a:r>
              <a:rPr lang="en-US" dirty="0">
                <a:solidFill>
                  <a:srgbClr val="0A0A0A"/>
                </a:solidFill>
                <a:latin typeface="Google Sans"/>
              </a:rPr>
              <a:t>.</a:t>
            </a:r>
          </a:p>
          <a:p>
            <a:pPr algn="just">
              <a:buFont typeface="Arial" panose="020B0604020202020204" pitchFamily="34" charset="0"/>
              <a:buChar char="•"/>
            </a:pPr>
            <a:r>
              <a:rPr lang="en-US" b="1" dirty="0">
                <a:solidFill>
                  <a:srgbClr val="0A0A0A"/>
                </a:solidFill>
                <a:latin typeface="Google Sans"/>
              </a:rPr>
              <a:t>Unstructured Datasets</a:t>
            </a:r>
            <a:r>
              <a:rPr lang="en-US" dirty="0">
                <a:solidFill>
                  <a:srgbClr val="0A0A0A"/>
                </a:solidFill>
                <a:latin typeface="Google Sans"/>
              </a:rPr>
              <a:t>: Data with no predefined format, often making up the bulk of "Big Data." Examples include emails, PDFs, videos, and social media posts. </a:t>
            </a:r>
            <a:endParaRPr lang="en-US" b="0" i="0" dirty="0">
              <a:solidFill>
                <a:srgbClr val="0A0A0A"/>
              </a:solidFill>
              <a:effectLst/>
              <a:latin typeface="Google Sans"/>
            </a:endParaRPr>
          </a:p>
        </p:txBody>
      </p:sp>
      <p:sp>
        <p:nvSpPr>
          <p:cNvPr id="8" name="Rectangle 7"/>
          <p:cNvSpPr/>
          <p:nvPr/>
        </p:nvSpPr>
        <p:spPr>
          <a:xfrm>
            <a:off x="357553" y="3415495"/>
            <a:ext cx="11696700" cy="2308324"/>
          </a:xfrm>
          <a:prstGeom prst="rect">
            <a:avLst/>
          </a:prstGeom>
        </p:spPr>
        <p:txBody>
          <a:bodyPr wrap="square">
            <a:spAutoFit/>
          </a:bodyPr>
          <a:lstStyle/>
          <a:p>
            <a:pPr algn="just">
              <a:buFont typeface="Arial" panose="020B0604020202020204" pitchFamily="34" charset="0"/>
              <a:buChar char="•"/>
            </a:pPr>
            <a:r>
              <a:rPr lang="en-US" b="1" dirty="0">
                <a:solidFill>
                  <a:srgbClr val="0A0A0A"/>
                </a:solidFill>
                <a:latin typeface="Google Sans"/>
              </a:rPr>
              <a:t>Numerical (Quantitative)</a:t>
            </a:r>
            <a:r>
              <a:rPr lang="en-US" dirty="0">
                <a:solidFill>
                  <a:srgbClr val="0A0A0A"/>
                </a:solidFill>
                <a:latin typeface="Google Sans"/>
              </a:rPr>
              <a:t>: Consists of numbers used for mathematical operations. This includes </a:t>
            </a:r>
            <a:r>
              <a:rPr lang="en-US" b="1" dirty="0">
                <a:solidFill>
                  <a:srgbClr val="0A0A0A"/>
                </a:solidFill>
                <a:latin typeface="Google Sans"/>
              </a:rPr>
              <a:t>Discrete</a:t>
            </a:r>
            <a:r>
              <a:rPr lang="en-US" dirty="0">
                <a:solidFill>
                  <a:srgbClr val="0A0A0A"/>
                </a:solidFill>
                <a:latin typeface="Google Sans"/>
              </a:rPr>
              <a:t> data (countable whole numbers) and </a:t>
            </a:r>
            <a:r>
              <a:rPr lang="en-US" b="1" dirty="0">
                <a:solidFill>
                  <a:srgbClr val="0A0A0A"/>
                </a:solidFill>
                <a:latin typeface="Google Sans"/>
              </a:rPr>
              <a:t>Continuous</a:t>
            </a:r>
            <a:r>
              <a:rPr lang="en-US" dirty="0">
                <a:solidFill>
                  <a:srgbClr val="0A0A0A"/>
                </a:solidFill>
                <a:latin typeface="Google Sans"/>
              </a:rPr>
              <a:t> data (measurable values like height or temperature).</a:t>
            </a:r>
          </a:p>
          <a:p>
            <a:pPr algn="just">
              <a:buFont typeface="Arial" panose="020B0604020202020204" pitchFamily="34" charset="0"/>
              <a:buChar char="•"/>
            </a:pPr>
            <a:r>
              <a:rPr lang="en-US" b="1" dirty="0">
                <a:solidFill>
                  <a:srgbClr val="0A0A0A"/>
                </a:solidFill>
                <a:latin typeface="Google Sans"/>
              </a:rPr>
              <a:t>Categorical (Qualitative)</a:t>
            </a:r>
            <a:r>
              <a:rPr lang="en-US" dirty="0">
                <a:solidFill>
                  <a:srgbClr val="0A0A0A"/>
                </a:solidFill>
                <a:latin typeface="Google Sans"/>
              </a:rPr>
              <a:t>: Represents characteristics or groups. This includes </a:t>
            </a:r>
            <a:r>
              <a:rPr lang="en-US" b="1" dirty="0">
                <a:solidFill>
                  <a:srgbClr val="0A0A0A"/>
                </a:solidFill>
                <a:latin typeface="Google Sans"/>
              </a:rPr>
              <a:t>Nominal</a:t>
            </a:r>
            <a:r>
              <a:rPr lang="en-US" dirty="0">
                <a:solidFill>
                  <a:srgbClr val="0A0A0A"/>
                </a:solidFill>
                <a:latin typeface="Google Sans"/>
              </a:rPr>
              <a:t> data (labels without order, e.g., hair color) and </a:t>
            </a:r>
            <a:r>
              <a:rPr lang="en-US" b="1" dirty="0">
                <a:solidFill>
                  <a:srgbClr val="0A0A0A"/>
                </a:solidFill>
                <a:latin typeface="Google Sans"/>
              </a:rPr>
              <a:t>Ordinal</a:t>
            </a:r>
            <a:r>
              <a:rPr lang="en-US" dirty="0">
                <a:solidFill>
                  <a:srgbClr val="0A0A0A"/>
                </a:solidFill>
                <a:latin typeface="Google Sans"/>
              </a:rPr>
              <a:t> data (ranked categories, e.g., survey ratings).</a:t>
            </a:r>
          </a:p>
          <a:p>
            <a:pPr algn="just">
              <a:buFont typeface="Arial" panose="020B0604020202020204" pitchFamily="34" charset="0"/>
              <a:buChar char="•"/>
            </a:pPr>
            <a:r>
              <a:rPr lang="en-US" b="1" dirty="0">
                <a:solidFill>
                  <a:srgbClr val="0A0A0A"/>
                </a:solidFill>
                <a:latin typeface="Google Sans"/>
              </a:rPr>
              <a:t>Time-Series</a:t>
            </a:r>
            <a:r>
              <a:rPr lang="en-US" dirty="0">
                <a:solidFill>
                  <a:srgbClr val="0A0A0A"/>
                </a:solidFill>
                <a:latin typeface="Google Sans"/>
              </a:rPr>
              <a:t>: Data points recorded in chronological order to track trends over time, such as daily stock prices or weather records.</a:t>
            </a:r>
          </a:p>
          <a:p>
            <a:pPr algn="just">
              <a:buFont typeface="Arial" panose="020B0604020202020204" pitchFamily="34" charset="0"/>
              <a:buChar char="•"/>
            </a:pPr>
            <a:r>
              <a:rPr lang="en-US" b="1" dirty="0">
                <a:solidFill>
                  <a:srgbClr val="0A0A0A"/>
                </a:solidFill>
                <a:latin typeface="Google Sans"/>
              </a:rPr>
              <a:t>Multimedia</a:t>
            </a:r>
            <a:r>
              <a:rPr lang="en-US" dirty="0">
                <a:solidFill>
                  <a:srgbClr val="0A0A0A"/>
                </a:solidFill>
                <a:latin typeface="Google Sans"/>
              </a:rPr>
              <a:t>: Collections of non-textual data like images, audio recordings, and video files.</a:t>
            </a:r>
          </a:p>
          <a:p>
            <a:pPr algn="just">
              <a:buFont typeface="Arial" panose="020B0604020202020204" pitchFamily="34" charset="0"/>
              <a:buChar char="•"/>
            </a:pPr>
            <a:r>
              <a:rPr lang="en-US" b="1" dirty="0">
                <a:solidFill>
                  <a:srgbClr val="0A0A0A"/>
                </a:solidFill>
                <a:latin typeface="Google Sans"/>
              </a:rPr>
              <a:t>Spatial</a:t>
            </a:r>
            <a:r>
              <a:rPr lang="en-US" dirty="0">
                <a:solidFill>
                  <a:srgbClr val="0A0A0A"/>
                </a:solidFill>
                <a:latin typeface="Google Sans"/>
              </a:rPr>
              <a:t>: Geographically referenced information such as GPS coordinates or satellite imagery</a:t>
            </a:r>
            <a:endParaRPr lang="en-US" b="0" i="0" dirty="0">
              <a:solidFill>
                <a:srgbClr val="0A0A0A"/>
              </a:solidFill>
              <a:effectLst/>
              <a:latin typeface="Google Sans"/>
            </a:endParaRPr>
          </a:p>
        </p:txBody>
      </p:sp>
    </p:spTree>
    <p:extLst>
      <p:ext uri="{BB962C8B-B14F-4D97-AF65-F5344CB8AC3E}">
        <p14:creationId xmlns:p14="http://schemas.microsoft.com/office/powerpoint/2010/main" val="428250945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Data Objects</a:t>
            </a:r>
            <a:endParaRPr lang="en-IN" dirty="0"/>
          </a:p>
        </p:txBody>
      </p:sp>
      <p:sp>
        <p:nvSpPr>
          <p:cNvPr id="3" name="Content Placeholder 2"/>
          <p:cNvSpPr>
            <a:spLocks noGrp="1"/>
          </p:cNvSpPr>
          <p:nvPr>
            <p:ph idx="1"/>
          </p:nvPr>
        </p:nvSpPr>
        <p:spPr/>
        <p:txBody>
          <a:bodyPr>
            <a:normAutofit/>
          </a:bodyPr>
          <a:lstStyle/>
          <a:p>
            <a:pPr>
              <a:lnSpc>
                <a:spcPct val="120000"/>
              </a:lnSpc>
            </a:pPr>
            <a:r>
              <a:rPr lang="en-US" altLang="en-US" sz="2400" dirty="0"/>
              <a:t>Data sets are made up of data objects.</a:t>
            </a:r>
          </a:p>
          <a:p>
            <a:pPr>
              <a:lnSpc>
                <a:spcPct val="120000"/>
              </a:lnSpc>
            </a:pPr>
            <a:r>
              <a:rPr lang="en-US" altLang="en-US" sz="2400" dirty="0"/>
              <a:t>A data object represents an entity.</a:t>
            </a:r>
          </a:p>
          <a:p>
            <a:pPr>
              <a:lnSpc>
                <a:spcPct val="120000"/>
              </a:lnSpc>
            </a:pPr>
            <a:r>
              <a:rPr lang="en-US" altLang="en-US" sz="2400" dirty="0"/>
              <a:t>Examples: </a:t>
            </a:r>
          </a:p>
          <a:p>
            <a:pPr lvl="1">
              <a:lnSpc>
                <a:spcPct val="120000"/>
              </a:lnSpc>
            </a:pPr>
            <a:r>
              <a:rPr lang="en-US" altLang="en-US" dirty="0" smtClean="0"/>
              <a:t>Sales database:  customers, store items, sales</a:t>
            </a:r>
          </a:p>
          <a:p>
            <a:pPr lvl="1">
              <a:lnSpc>
                <a:spcPct val="120000"/>
              </a:lnSpc>
            </a:pPr>
            <a:r>
              <a:rPr lang="en-US" altLang="en-US" dirty="0" smtClean="0"/>
              <a:t>Medical database: patients, treatments</a:t>
            </a:r>
          </a:p>
          <a:p>
            <a:pPr lvl="1">
              <a:lnSpc>
                <a:spcPct val="120000"/>
              </a:lnSpc>
            </a:pPr>
            <a:r>
              <a:rPr lang="en-US" altLang="en-US" dirty="0" smtClean="0"/>
              <a:t>University database: students, professors, courses</a:t>
            </a:r>
          </a:p>
          <a:p>
            <a:pPr>
              <a:lnSpc>
                <a:spcPct val="120000"/>
              </a:lnSpc>
            </a:pPr>
            <a:r>
              <a:rPr lang="en-US" altLang="en-US" sz="2400" dirty="0" smtClean="0"/>
              <a:t>Also </a:t>
            </a:r>
            <a:r>
              <a:rPr lang="en-US" altLang="en-US" sz="2400" dirty="0"/>
              <a:t>called </a:t>
            </a:r>
            <a:r>
              <a:rPr lang="en-US" altLang="en-US" sz="2400" dirty="0" smtClean="0"/>
              <a:t>samples, </a:t>
            </a:r>
            <a:r>
              <a:rPr lang="en-US" altLang="en-US" sz="2400" dirty="0"/>
              <a:t>examples, instances, data points, objects, tuples.</a:t>
            </a:r>
          </a:p>
          <a:p>
            <a:pPr>
              <a:lnSpc>
                <a:spcPct val="120000"/>
              </a:lnSpc>
            </a:pPr>
            <a:r>
              <a:rPr lang="en-US" altLang="en-US" sz="2400" dirty="0"/>
              <a:t>Data objects are described by attributes.</a:t>
            </a:r>
          </a:p>
          <a:p>
            <a:pPr>
              <a:lnSpc>
                <a:spcPct val="120000"/>
              </a:lnSpc>
            </a:pPr>
            <a:r>
              <a:rPr lang="en-US" altLang="en-US" sz="2400" dirty="0"/>
              <a:t>Database rows </a:t>
            </a:r>
            <a:r>
              <a:rPr lang="en-US" altLang="en-US" sz="2400" dirty="0" smtClean="0"/>
              <a:t>-&gt; </a:t>
            </a:r>
            <a:r>
              <a:rPr lang="en-US" altLang="en-US" sz="2400" dirty="0"/>
              <a:t>data objects; columns -&gt;attributes.</a:t>
            </a:r>
          </a:p>
          <a:p>
            <a:endParaRPr lang="en-IN" dirty="0"/>
          </a:p>
        </p:txBody>
      </p:sp>
    </p:spTree>
    <p:extLst>
      <p:ext uri="{BB962C8B-B14F-4D97-AF65-F5344CB8AC3E}">
        <p14:creationId xmlns:p14="http://schemas.microsoft.com/office/powerpoint/2010/main" val="4969601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Attributes</a:t>
            </a:r>
            <a:endParaRPr lang="en-IN" dirty="0"/>
          </a:p>
        </p:txBody>
      </p:sp>
      <p:sp>
        <p:nvSpPr>
          <p:cNvPr id="3" name="Content Placeholder 2"/>
          <p:cNvSpPr>
            <a:spLocks noGrp="1"/>
          </p:cNvSpPr>
          <p:nvPr>
            <p:ph idx="1"/>
          </p:nvPr>
        </p:nvSpPr>
        <p:spPr/>
        <p:txBody>
          <a:bodyPr/>
          <a:lstStyle/>
          <a:p>
            <a:pPr algn="just"/>
            <a:r>
              <a:rPr lang="en-US" altLang="en-US" b="1" dirty="0"/>
              <a:t>Attribute (or </a:t>
            </a:r>
            <a:r>
              <a:rPr lang="en-US" altLang="en-US" b="1" dirty="0" smtClean="0"/>
              <a:t>Dimensions</a:t>
            </a:r>
            <a:r>
              <a:rPr lang="en-US" altLang="en-US" b="1" dirty="0"/>
              <a:t>, </a:t>
            </a:r>
            <a:r>
              <a:rPr lang="en-US" altLang="en-US" b="1" dirty="0" smtClean="0"/>
              <a:t>Features</a:t>
            </a:r>
            <a:r>
              <a:rPr lang="en-US" altLang="en-US" b="1" dirty="0"/>
              <a:t>, </a:t>
            </a:r>
            <a:r>
              <a:rPr lang="en-US" altLang="en-US" b="1" dirty="0" smtClean="0"/>
              <a:t>Variables</a:t>
            </a:r>
            <a:r>
              <a:rPr lang="en-US" altLang="en-US" b="1" dirty="0"/>
              <a:t>): </a:t>
            </a:r>
            <a:r>
              <a:rPr lang="en-US" altLang="en-US" dirty="0" smtClean="0"/>
              <a:t>A </a:t>
            </a:r>
            <a:r>
              <a:rPr lang="en-US" altLang="en-US" dirty="0"/>
              <a:t>data field, representing a characteristic or feature of a data object.</a:t>
            </a:r>
          </a:p>
          <a:p>
            <a:pPr lvl="1"/>
            <a:r>
              <a:rPr lang="en-US" altLang="en-US" sz="2800" dirty="0"/>
              <a:t>E.g., customer _ID, name, address</a:t>
            </a:r>
          </a:p>
          <a:p>
            <a:r>
              <a:rPr lang="en-US" altLang="en-US" b="1" dirty="0"/>
              <a:t>Types:</a:t>
            </a:r>
          </a:p>
          <a:p>
            <a:pPr lvl="1"/>
            <a:r>
              <a:rPr lang="en-US" altLang="en-US" sz="2800" dirty="0"/>
              <a:t>Nominal</a:t>
            </a:r>
          </a:p>
          <a:p>
            <a:pPr lvl="1"/>
            <a:r>
              <a:rPr lang="en-US" altLang="en-US" sz="2800" dirty="0"/>
              <a:t>Binary</a:t>
            </a:r>
          </a:p>
          <a:p>
            <a:pPr lvl="1"/>
            <a:r>
              <a:rPr lang="en-US" altLang="en-US" sz="2800" dirty="0"/>
              <a:t>Numeric: </a:t>
            </a:r>
            <a:r>
              <a:rPr lang="en-US" altLang="en-US" sz="2800" dirty="0" smtClean="0"/>
              <a:t>Quantitative</a:t>
            </a:r>
            <a:endParaRPr lang="en-US" altLang="en-US" sz="2800" dirty="0"/>
          </a:p>
          <a:p>
            <a:pPr lvl="2"/>
            <a:r>
              <a:rPr lang="en-US" altLang="en-US" sz="2800" dirty="0"/>
              <a:t>Interval-scaled</a:t>
            </a:r>
          </a:p>
          <a:p>
            <a:pPr lvl="2"/>
            <a:r>
              <a:rPr lang="en-US" altLang="en-US" sz="2800" dirty="0"/>
              <a:t>Ratio-scaled</a:t>
            </a:r>
            <a:endParaRPr lang="en-US" altLang="en-US" dirty="0"/>
          </a:p>
          <a:p>
            <a:endParaRPr lang="en-IN" dirty="0"/>
          </a:p>
        </p:txBody>
      </p:sp>
    </p:spTree>
    <p:extLst>
      <p:ext uri="{BB962C8B-B14F-4D97-AF65-F5344CB8AC3E}">
        <p14:creationId xmlns:p14="http://schemas.microsoft.com/office/powerpoint/2010/main" val="32529118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Attribute Types </a:t>
            </a:r>
          </a:p>
        </p:txBody>
      </p:sp>
      <p:sp>
        <p:nvSpPr>
          <p:cNvPr id="3" name="Content Placeholder 2"/>
          <p:cNvSpPr>
            <a:spLocks noGrp="1"/>
          </p:cNvSpPr>
          <p:nvPr>
            <p:ph idx="1"/>
          </p:nvPr>
        </p:nvSpPr>
        <p:spPr/>
        <p:txBody>
          <a:bodyPr>
            <a:normAutofit/>
          </a:bodyPr>
          <a:lstStyle/>
          <a:p>
            <a:pPr marL="292100" indent="-292100"/>
            <a:r>
              <a:rPr lang="en-US" altLang="en-US" sz="2000" b="1" dirty="0"/>
              <a:t>Nominal:</a:t>
            </a:r>
            <a:r>
              <a:rPr lang="en-US" altLang="en-US" sz="2000" dirty="0"/>
              <a:t> </a:t>
            </a:r>
            <a:r>
              <a:rPr lang="en-US" altLang="en-US" sz="2000" dirty="0" smtClean="0"/>
              <a:t>Categories</a:t>
            </a:r>
            <a:r>
              <a:rPr lang="en-US" altLang="en-US" sz="2000" dirty="0"/>
              <a:t>, </a:t>
            </a:r>
            <a:r>
              <a:rPr lang="en-US" altLang="en-US" sz="2000" dirty="0" smtClean="0"/>
              <a:t>States</a:t>
            </a:r>
            <a:r>
              <a:rPr lang="en-US" altLang="en-US" sz="2000" dirty="0"/>
              <a:t>, or </a:t>
            </a:r>
            <a:r>
              <a:rPr lang="en-US" altLang="en-US" sz="2000" dirty="0" smtClean="0"/>
              <a:t>“Names </a:t>
            </a:r>
            <a:r>
              <a:rPr lang="en-US" altLang="en-US" sz="2000" dirty="0"/>
              <a:t>of things”</a:t>
            </a:r>
          </a:p>
          <a:p>
            <a:pPr marL="749300" lvl="1" indent="-342900"/>
            <a:r>
              <a:rPr lang="en-US" altLang="en-US" sz="2000" dirty="0" err="1"/>
              <a:t>Hair_color</a:t>
            </a:r>
            <a:r>
              <a:rPr lang="en-US" altLang="en-US" sz="2000" dirty="0"/>
              <a:t> = {auburn, black, blond, brown, grey, red, white}</a:t>
            </a:r>
          </a:p>
          <a:p>
            <a:pPr marL="749300" lvl="1" indent="-342900"/>
            <a:r>
              <a:rPr lang="en-US" altLang="en-US" sz="2000" dirty="0"/>
              <a:t>M</a:t>
            </a:r>
            <a:r>
              <a:rPr lang="en-US" altLang="en-US" sz="2000" dirty="0" smtClean="0"/>
              <a:t>arital </a:t>
            </a:r>
            <a:r>
              <a:rPr lang="en-US" altLang="en-US" sz="2000" dirty="0"/>
              <a:t>status, occupation, ID numbers, zip codes</a:t>
            </a:r>
          </a:p>
          <a:p>
            <a:pPr marL="292100" indent="-292100"/>
            <a:r>
              <a:rPr lang="en-US" altLang="en-US" sz="2000" b="1" dirty="0"/>
              <a:t>Binary</a:t>
            </a:r>
          </a:p>
          <a:p>
            <a:pPr marL="749300" lvl="1" indent="-342900"/>
            <a:r>
              <a:rPr lang="en-US" altLang="en-US" sz="2000" dirty="0"/>
              <a:t>Nominal attribute with only 2 states (0 and 1)</a:t>
            </a:r>
          </a:p>
          <a:p>
            <a:pPr marL="749300" lvl="1" indent="-342900"/>
            <a:r>
              <a:rPr lang="en-US" altLang="en-US" sz="2000" b="1" dirty="0"/>
              <a:t>Symmetric binary: </a:t>
            </a:r>
            <a:r>
              <a:rPr lang="en-US" altLang="en-US" sz="2000" dirty="0"/>
              <a:t>both outcomes equally important</a:t>
            </a:r>
          </a:p>
          <a:p>
            <a:pPr marL="1257300" lvl="2" indent="-393700"/>
            <a:r>
              <a:rPr lang="en-US" altLang="en-US" dirty="0"/>
              <a:t>e.g., gender</a:t>
            </a:r>
          </a:p>
          <a:p>
            <a:pPr marL="749300" lvl="1" indent="-342900"/>
            <a:r>
              <a:rPr lang="en-US" altLang="en-US" sz="2000" b="1" dirty="0"/>
              <a:t>Asymmetric binary: </a:t>
            </a:r>
            <a:r>
              <a:rPr lang="en-US" altLang="en-US" sz="2000" dirty="0" smtClean="0"/>
              <a:t>Outcomes </a:t>
            </a:r>
            <a:r>
              <a:rPr lang="en-US" altLang="en-US" sz="2000" dirty="0"/>
              <a:t>not equally important.  </a:t>
            </a:r>
          </a:p>
          <a:p>
            <a:pPr marL="1257300" lvl="2" indent="-393700"/>
            <a:r>
              <a:rPr lang="en-US" altLang="en-US" dirty="0"/>
              <a:t>e.g., medical test (positive vs. negative)</a:t>
            </a:r>
          </a:p>
          <a:p>
            <a:pPr marL="1257300" lvl="2" indent="-393700"/>
            <a:r>
              <a:rPr lang="en-US" altLang="en-US" dirty="0"/>
              <a:t>Convention: assign 1 to most important outcome (e.g., HIV positive)</a:t>
            </a:r>
          </a:p>
          <a:p>
            <a:pPr marL="292100" indent="-292100"/>
            <a:r>
              <a:rPr lang="en-US" altLang="en-US" sz="2000" b="1" dirty="0"/>
              <a:t>Ordinal</a:t>
            </a:r>
          </a:p>
          <a:p>
            <a:pPr marL="749300" lvl="1" indent="-342900"/>
            <a:r>
              <a:rPr lang="en-US" altLang="en-US" sz="2000" dirty="0"/>
              <a:t>Values have a meaningful order (ranking) but magnitude between successive values is not known.</a:t>
            </a:r>
          </a:p>
          <a:p>
            <a:pPr marL="749300" lvl="1" indent="-342900"/>
            <a:r>
              <a:rPr lang="en-US" altLang="en-US" sz="2000" dirty="0"/>
              <a:t>Size = {small, medium, large}, grades, army rankings</a:t>
            </a:r>
          </a:p>
          <a:p>
            <a:endParaRPr lang="en-IN" dirty="0"/>
          </a:p>
        </p:txBody>
      </p:sp>
    </p:spTree>
    <p:extLst>
      <p:ext uri="{BB962C8B-B14F-4D97-AF65-F5344CB8AC3E}">
        <p14:creationId xmlns:p14="http://schemas.microsoft.com/office/powerpoint/2010/main" val="3343284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Numeric Attribute Types </a:t>
            </a:r>
          </a:p>
        </p:txBody>
      </p:sp>
      <p:sp>
        <p:nvSpPr>
          <p:cNvPr id="3" name="Content Placeholder 2"/>
          <p:cNvSpPr>
            <a:spLocks noGrp="1"/>
          </p:cNvSpPr>
          <p:nvPr>
            <p:ph idx="1"/>
          </p:nvPr>
        </p:nvSpPr>
        <p:spPr/>
        <p:txBody>
          <a:bodyPr>
            <a:normAutofit/>
          </a:bodyPr>
          <a:lstStyle/>
          <a:p>
            <a:pPr marL="292100" indent="-292100"/>
            <a:r>
              <a:rPr lang="en-US" altLang="en-US" b="1" dirty="0"/>
              <a:t>Quantity (integer or real-valued)</a:t>
            </a:r>
          </a:p>
          <a:p>
            <a:pPr marL="292100" indent="-292100"/>
            <a:r>
              <a:rPr lang="en-US" altLang="en-US" b="1" dirty="0"/>
              <a:t>Interval</a:t>
            </a:r>
          </a:p>
          <a:p>
            <a:pPr marL="1257300" lvl="2" indent="-393700"/>
            <a:r>
              <a:rPr lang="en-US" altLang="en-US" sz="2400" dirty="0"/>
              <a:t>Measured on a scale of </a:t>
            </a:r>
            <a:r>
              <a:rPr lang="en-US" altLang="en-US" sz="2400" b="1" dirty="0"/>
              <a:t>equal-sized units</a:t>
            </a:r>
          </a:p>
          <a:p>
            <a:pPr marL="1257300" lvl="2" indent="-393700"/>
            <a:r>
              <a:rPr lang="en-US" altLang="en-US" sz="2400" dirty="0"/>
              <a:t>Values have order</a:t>
            </a:r>
          </a:p>
          <a:p>
            <a:pPr marL="1714500" lvl="3" indent="-393700"/>
            <a:r>
              <a:rPr lang="en-US" altLang="en-US" sz="2400" dirty="0"/>
              <a:t>E.g., temperature in </a:t>
            </a:r>
            <a:r>
              <a:rPr lang="en-US" altLang="en-US" sz="2400" dirty="0" err="1"/>
              <a:t>C</a:t>
            </a:r>
            <a:r>
              <a:rPr lang="en-US" altLang="en-US" sz="2400" dirty="0" err="1">
                <a:cs typeface="Tahoma" panose="020B0604030504040204" pitchFamily="34" charset="0"/>
              </a:rPr>
              <a:t>˚</a:t>
            </a:r>
            <a:r>
              <a:rPr lang="en-US" altLang="en-US" sz="2400" dirty="0" err="1"/>
              <a:t>or</a:t>
            </a:r>
            <a:r>
              <a:rPr lang="en-US" altLang="en-US" sz="2400" dirty="0"/>
              <a:t> F</a:t>
            </a:r>
            <a:r>
              <a:rPr lang="en-US" altLang="en-US" sz="2400" dirty="0">
                <a:cs typeface="Tahoma" panose="020B0604030504040204" pitchFamily="34" charset="0"/>
              </a:rPr>
              <a:t>˚</a:t>
            </a:r>
            <a:r>
              <a:rPr lang="en-US" altLang="en-US" sz="2400" dirty="0"/>
              <a:t>, calendar dates</a:t>
            </a:r>
          </a:p>
          <a:p>
            <a:pPr marL="1257300" lvl="2" indent="-393700"/>
            <a:r>
              <a:rPr lang="en-US" altLang="en-US" sz="2400" dirty="0"/>
              <a:t>No true zero-point</a:t>
            </a:r>
          </a:p>
          <a:p>
            <a:pPr marL="292100" indent="-292100"/>
            <a:r>
              <a:rPr lang="en-US" altLang="en-US" b="1" dirty="0"/>
              <a:t>Ratio</a:t>
            </a:r>
          </a:p>
          <a:p>
            <a:pPr marL="1257300" lvl="2" indent="-393700"/>
            <a:r>
              <a:rPr lang="en-US" altLang="en-US" sz="2400" dirty="0"/>
              <a:t>Inherent </a:t>
            </a:r>
            <a:r>
              <a:rPr lang="en-US" altLang="en-US" sz="2400" b="1" dirty="0"/>
              <a:t>zero-point</a:t>
            </a:r>
          </a:p>
          <a:p>
            <a:pPr marL="1257300" lvl="2" indent="-393700"/>
            <a:r>
              <a:rPr lang="en-US" altLang="en-US" sz="2400" dirty="0"/>
              <a:t>We can speak of values as being an order of magnitude larger than the unit of measurement (10 K</a:t>
            </a:r>
            <a:r>
              <a:rPr lang="en-US" altLang="en-US" sz="2400" dirty="0">
                <a:cs typeface="Tahoma" panose="020B0604030504040204" pitchFamily="34" charset="0"/>
              </a:rPr>
              <a:t>˚</a:t>
            </a:r>
            <a:r>
              <a:rPr lang="en-US" altLang="en-US" sz="2400" dirty="0"/>
              <a:t> is twice as high as 5 K</a:t>
            </a:r>
            <a:r>
              <a:rPr lang="en-US" altLang="en-US" sz="2400" dirty="0">
                <a:cs typeface="Tahoma" panose="020B0604030504040204" pitchFamily="34" charset="0"/>
              </a:rPr>
              <a:t>˚</a:t>
            </a:r>
            <a:r>
              <a:rPr lang="en-US" altLang="en-US" sz="2400" dirty="0"/>
              <a:t>).</a:t>
            </a:r>
          </a:p>
          <a:p>
            <a:pPr marL="1714500" lvl="3" indent="-393700"/>
            <a:r>
              <a:rPr lang="en-US" altLang="en-US" sz="2400" dirty="0"/>
              <a:t>e.g., temperature in Kelvin, length, counts, monetary quantities</a:t>
            </a:r>
            <a:endParaRPr lang="en-US" altLang="en-US" dirty="0"/>
          </a:p>
          <a:p>
            <a:endParaRPr lang="en-IN" sz="3200" dirty="0"/>
          </a:p>
        </p:txBody>
      </p:sp>
    </p:spTree>
    <p:extLst>
      <p:ext uri="{BB962C8B-B14F-4D97-AF65-F5344CB8AC3E}">
        <p14:creationId xmlns:p14="http://schemas.microsoft.com/office/powerpoint/2010/main" val="32430203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Discrete vs. Continuous Attributes </a:t>
            </a:r>
            <a:endParaRPr lang="en-IN" dirty="0"/>
          </a:p>
        </p:txBody>
      </p:sp>
      <p:sp>
        <p:nvSpPr>
          <p:cNvPr id="3" name="Content Placeholder 2"/>
          <p:cNvSpPr>
            <a:spLocks noGrp="1"/>
          </p:cNvSpPr>
          <p:nvPr>
            <p:ph idx="1"/>
          </p:nvPr>
        </p:nvSpPr>
        <p:spPr/>
        <p:txBody>
          <a:bodyPr>
            <a:noAutofit/>
          </a:bodyPr>
          <a:lstStyle/>
          <a:p>
            <a:r>
              <a:rPr lang="en-US" altLang="en-US" b="1" dirty="0"/>
              <a:t>Discrete</a:t>
            </a:r>
            <a:r>
              <a:rPr lang="en-US" altLang="en-US" dirty="0"/>
              <a:t> </a:t>
            </a:r>
            <a:r>
              <a:rPr lang="en-US" altLang="en-US" b="1" dirty="0"/>
              <a:t>Attribute</a:t>
            </a:r>
          </a:p>
          <a:p>
            <a:pPr lvl="1"/>
            <a:r>
              <a:rPr lang="en-US" altLang="en-US" dirty="0"/>
              <a:t>Has only a finite or countably infinite set of values</a:t>
            </a:r>
          </a:p>
          <a:p>
            <a:pPr lvl="2"/>
            <a:r>
              <a:rPr lang="en-US" altLang="en-US" sz="2400" dirty="0"/>
              <a:t>E.g., zip codes, profession, or the set of words in a collection of documents </a:t>
            </a:r>
          </a:p>
          <a:p>
            <a:pPr lvl="1"/>
            <a:r>
              <a:rPr lang="en-US" altLang="en-US" dirty="0"/>
              <a:t>Sometimes, represented as integer variables</a:t>
            </a:r>
          </a:p>
          <a:p>
            <a:pPr lvl="1"/>
            <a:r>
              <a:rPr lang="en-US" altLang="en-US" dirty="0"/>
              <a:t>Note: Binary attributes are a special case of discrete attributes </a:t>
            </a:r>
          </a:p>
          <a:p>
            <a:r>
              <a:rPr lang="en-US" altLang="en-US" b="1" dirty="0"/>
              <a:t>Continuous</a:t>
            </a:r>
            <a:r>
              <a:rPr lang="en-US" altLang="en-US" dirty="0"/>
              <a:t> </a:t>
            </a:r>
            <a:r>
              <a:rPr lang="en-US" altLang="en-US" b="1" dirty="0"/>
              <a:t>Attribute</a:t>
            </a:r>
          </a:p>
          <a:p>
            <a:pPr lvl="1"/>
            <a:r>
              <a:rPr lang="en-US" altLang="en-US" dirty="0"/>
              <a:t>Has real numbers as attribute values</a:t>
            </a:r>
          </a:p>
          <a:p>
            <a:pPr lvl="2"/>
            <a:r>
              <a:rPr lang="en-US" altLang="en-US" sz="2400" dirty="0"/>
              <a:t>E.g., temperature, height, or weight</a:t>
            </a:r>
          </a:p>
          <a:p>
            <a:pPr lvl="1"/>
            <a:r>
              <a:rPr lang="en-US" altLang="en-US" dirty="0"/>
              <a:t>Practically, real values can only be measured and represented using a finite number of digits</a:t>
            </a:r>
          </a:p>
          <a:p>
            <a:pPr lvl="1"/>
            <a:r>
              <a:rPr lang="en-US" altLang="en-US" dirty="0"/>
              <a:t>Continuous attributes are typically represented as floating-point variables</a:t>
            </a:r>
          </a:p>
          <a:p>
            <a:endParaRPr lang="en-IN" sz="3200" dirty="0"/>
          </a:p>
        </p:txBody>
      </p:sp>
    </p:spTree>
    <p:extLst>
      <p:ext uri="{BB962C8B-B14F-4D97-AF65-F5344CB8AC3E}">
        <p14:creationId xmlns:p14="http://schemas.microsoft.com/office/powerpoint/2010/main" val="22743909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smtClean="0"/>
              <a:t/>
            </a:r>
            <a:br>
              <a:rPr lang="en-US" altLang="en-US" dirty="0" smtClean="0"/>
            </a:br>
            <a:r>
              <a:rPr lang="en-US" altLang="en-US" dirty="0" smtClean="0"/>
              <a:t>Dimensionality</a:t>
            </a:r>
            <a:r>
              <a:rPr lang="en-US" altLang="en-US" dirty="0"/>
              <a:t/>
            </a:r>
            <a:br>
              <a:rPr lang="en-US" altLang="en-US" dirty="0"/>
            </a:br>
            <a:endParaRPr lang="en-IN" dirty="0"/>
          </a:p>
        </p:txBody>
      </p:sp>
      <p:sp>
        <p:nvSpPr>
          <p:cNvPr id="3" name="Content Placeholder 2"/>
          <p:cNvSpPr>
            <a:spLocks noGrp="1"/>
          </p:cNvSpPr>
          <p:nvPr>
            <p:ph idx="1"/>
          </p:nvPr>
        </p:nvSpPr>
        <p:spPr/>
        <p:txBody>
          <a:bodyPr/>
          <a:lstStyle/>
          <a:p>
            <a:r>
              <a:rPr lang="en-US" b="1" dirty="0"/>
              <a:t>Definition</a:t>
            </a:r>
            <a:r>
              <a:rPr lang="en-US" dirty="0"/>
              <a:t>: Refers to the number of attributes, features, or variables that the data objects in a dataset possess.</a:t>
            </a:r>
          </a:p>
          <a:p>
            <a:r>
              <a:rPr lang="en-US" b="1" dirty="0"/>
              <a:t>Context</a:t>
            </a:r>
            <a:r>
              <a:rPr lang="en-US" dirty="0"/>
              <a:t>: A dataset with many columns (features) is considered high-dimensional.</a:t>
            </a:r>
          </a:p>
          <a:p>
            <a:r>
              <a:rPr lang="en-US" b="1" dirty="0"/>
              <a:t>Impact</a:t>
            </a:r>
            <a:r>
              <a:rPr lang="en-US" dirty="0"/>
              <a:t>: High dimensionality can lead to the "Curse of Dimensionality," where data analysis becomes difficult, models are prone to overfitting, and data points become very sparse in the available space.</a:t>
            </a:r>
          </a:p>
          <a:p>
            <a:endParaRPr lang="en-IN" dirty="0"/>
          </a:p>
        </p:txBody>
      </p:sp>
    </p:spTree>
    <p:extLst>
      <p:ext uri="{BB962C8B-B14F-4D97-AF65-F5344CB8AC3E}">
        <p14:creationId xmlns:p14="http://schemas.microsoft.com/office/powerpoint/2010/main" val="1566360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Sparsity</a:t>
            </a:r>
            <a:endParaRPr lang="en-IN" dirty="0"/>
          </a:p>
        </p:txBody>
      </p:sp>
      <p:sp>
        <p:nvSpPr>
          <p:cNvPr id="3" name="Content Placeholder 2"/>
          <p:cNvSpPr>
            <a:spLocks noGrp="1"/>
          </p:cNvSpPr>
          <p:nvPr>
            <p:ph idx="1"/>
          </p:nvPr>
        </p:nvSpPr>
        <p:spPr/>
        <p:txBody>
          <a:bodyPr/>
          <a:lstStyle/>
          <a:p>
            <a:r>
              <a:rPr lang="en-US" b="1" dirty="0"/>
              <a:t>Definition</a:t>
            </a:r>
            <a:r>
              <a:rPr lang="en-US" dirty="0"/>
              <a:t>: Describes a dataset condition where a large percentage of entries have zero, null, or missing values.</a:t>
            </a:r>
          </a:p>
          <a:p>
            <a:r>
              <a:rPr lang="en-US" b="1" dirty="0"/>
              <a:t>Context</a:t>
            </a:r>
            <a:r>
              <a:rPr lang="en-US" dirty="0"/>
              <a:t>: This is common in areas like text analysis (where only a few words from a large vocabulary are used in a single document) or recommendation systems (where users only interact with a tiny fraction of available items).</a:t>
            </a:r>
          </a:p>
          <a:p>
            <a:r>
              <a:rPr lang="en-US" b="1" dirty="0"/>
              <a:t>Impact</a:t>
            </a:r>
            <a:r>
              <a:rPr lang="en-US" dirty="0"/>
              <a:t>: Specialized data structures and algorithms are needed to efficiently store and process sparse data to save memory and improve computational speed.</a:t>
            </a:r>
          </a:p>
          <a:p>
            <a:endParaRPr lang="en-IN" dirty="0"/>
          </a:p>
        </p:txBody>
      </p:sp>
    </p:spTree>
    <p:extLst>
      <p:ext uri="{BB962C8B-B14F-4D97-AF65-F5344CB8AC3E}">
        <p14:creationId xmlns:p14="http://schemas.microsoft.com/office/powerpoint/2010/main" val="1637984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Resolution</a:t>
            </a:r>
            <a:endParaRPr lang="en-IN" dirty="0"/>
          </a:p>
        </p:txBody>
      </p:sp>
      <p:sp>
        <p:nvSpPr>
          <p:cNvPr id="3" name="Content Placeholder 2"/>
          <p:cNvSpPr>
            <a:spLocks noGrp="1"/>
          </p:cNvSpPr>
          <p:nvPr>
            <p:ph idx="1"/>
          </p:nvPr>
        </p:nvSpPr>
        <p:spPr/>
        <p:txBody>
          <a:bodyPr/>
          <a:lstStyle/>
          <a:p>
            <a:r>
              <a:rPr lang="en-US" b="1" dirty="0"/>
              <a:t>Definition</a:t>
            </a:r>
            <a:r>
              <a:rPr lang="en-US" dirty="0"/>
              <a:t>: Refers to the granularity or scale at which the data is collected or analyzed.</a:t>
            </a:r>
          </a:p>
          <a:p>
            <a:r>
              <a:rPr lang="en-US" b="1" dirty="0"/>
              <a:t>Context</a:t>
            </a:r>
            <a:r>
              <a:rPr lang="en-US" dirty="0"/>
              <a:t>: The patterns you can identify depend heavily on the resolution. For example, daily temperature readings show different patterns (short-term weather systems) than monthly averages (long-term climate trends).</a:t>
            </a:r>
          </a:p>
          <a:p>
            <a:r>
              <a:rPr lang="en-US" b="1" dirty="0"/>
              <a:t>Impact</a:t>
            </a:r>
            <a:r>
              <a:rPr lang="en-US" dirty="0"/>
              <a:t>: If the resolution is too fine, patterns can be obscured by noise; if it is too coarse, important patterns might disappear altogether.</a:t>
            </a:r>
          </a:p>
          <a:p>
            <a:endParaRPr lang="en-IN" dirty="0"/>
          </a:p>
        </p:txBody>
      </p:sp>
    </p:spTree>
    <p:extLst>
      <p:ext uri="{BB962C8B-B14F-4D97-AF65-F5344CB8AC3E}">
        <p14:creationId xmlns:p14="http://schemas.microsoft.com/office/powerpoint/2010/main" val="4354603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Distribution</a:t>
            </a:r>
            <a:endParaRPr lang="en-IN" dirty="0"/>
          </a:p>
        </p:txBody>
      </p:sp>
      <p:sp>
        <p:nvSpPr>
          <p:cNvPr id="3" name="Content Placeholder 2"/>
          <p:cNvSpPr>
            <a:spLocks noGrp="1"/>
          </p:cNvSpPr>
          <p:nvPr>
            <p:ph idx="1"/>
          </p:nvPr>
        </p:nvSpPr>
        <p:spPr/>
        <p:txBody>
          <a:bodyPr/>
          <a:lstStyle/>
          <a:p>
            <a:r>
              <a:rPr lang="en-US" b="1" dirty="0"/>
              <a:t>Definition</a:t>
            </a:r>
            <a:r>
              <a:rPr lang="en-US" dirty="0"/>
              <a:t>: Refers to how the data points are spread out or clustered across various values or ranges.</a:t>
            </a:r>
          </a:p>
          <a:p>
            <a:r>
              <a:rPr lang="en-US" b="1" dirty="0"/>
              <a:t>Context</a:t>
            </a:r>
            <a:r>
              <a:rPr lang="en-US" dirty="0"/>
              <a:t>: Understanding the distribution (e.g., normal, skewed, uniform) helps determine appropriate statistical methods and machine learning algorithms for analysis.</a:t>
            </a:r>
          </a:p>
          <a:p>
            <a:r>
              <a:rPr lang="en-US" b="1" dirty="0"/>
              <a:t>Impact</a:t>
            </a:r>
            <a:r>
              <a:rPr lang="en-US" dirty="0"/>
              <a:t>: The distribution of data influences measures of centrality (mean, median, mode) and dispersion (variance), which are crucial for interpreting insights. </a:t>
            </a:r>
          </a:p>
          <a:p>
            <a:endParaRPr lang="en-IN" dirty="0"/>
          </a:p>
        </p:txBody>
      </p:sp>
    </p:spTree>
    <p:extLst>
      <p:ext uri="{BB962C8B-B14F-4D97-AF65-F5344CB8AC3E}">
        <p14:creationId xmlns:p14="http://schemas.microsoft.com/office/powerpoint/2010/main" val="24051144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Data Quality: Why Preprocess the Data?</a:t>
            </a:r>
            <a:endParaRPr lang="en-IN" dirty="0"/>
          </a:p>
        </p:txBody>
      </p:sp>
      <p:sp>
        <p:nvSpPr>
          <p:cNvPr id="3" name="Content Placeholder 2"/>
          <p:cNvSpPr>
            <a:spLocks noGrp="1"/>
          </p:cNvSpPr>
          <p:nvPr>
            <p:ph idx="1"/>
          </p:nvPr>
        </p:nvSpPr>
        <p:spPr/>
        <p:txBody>
          <a:bodyPr/>
          <a:lstStyle/>
          <a:p>
            <a:pPr>
              <a:lnSpc>
                <a:spcPct val="140000"/>
              </a:lnSpc>
            </a:pPr>
            <a:r>
              <a:rPr lang="en-US" altLang="en-US" sz="2400" dirty="0"/>
              <a:t>Measures for data quality: A multidimensional view</a:t>
            </a:r>
          </a:p>
          <a:p>
            <a:pPr lvl="1">
              <a:lnSpc>
                <a:spcPct val="140000"/>
              </a:lnSpc>
            </a:pPr>
            <a:r>
              <a:rPr lang="en-US" altLang="en-US" dirty="0"/>
              <a:t>Accuracy: correct or wrong, accurate or not</a:t>
            </a:r>
          </a:p>
          <a:p>
            <a:pPr lvl="1">
              <a:lnSpc>
                <a:spcPct val="140000"/>
              </a:lnSpc>
            </a:pPr>
            <a:r>
              <a:rPr lang="en-US" altLang="en-US" dirty="0"/>
              <a:t>Completeness: not recorded, unavailable, …</a:t>
            </a:r>
          </a:p>
          <a:p>
            <a:pPr lvl="1">
              <a:lnSpc>
                <a:spcPct val="140000"/>
              </a:lnSpc>
            </a:pPr>
            <a:r>
              <a:rPr lang="en-US" altLang="en-US" dirty="0"/>
              <a:t>Consistency: some modified but some not, dangling, …</a:t>
            </a:r>
          </a:p>
          <a:p>
            <a:pPr lvl="1">
              <a:lnSpc>
                <a:spcPct val="140000"/>
              </a:lnSpc>
            </a:pPr>
            <a:r>
              <a:rPr lang="en-US" altLang="en-US" dirty="0"/>
              <a:t>Timeliness: timely update? </a:t>
            </a:r>
          </a:p>
          <a:p>
            <a:pPr lvl="1">
              <a:lnSpc>
                <a:spcPct val="140000"/>
              </a:lnSpc>
            </a:pPr>
            <a:r>
              <a:rPr lang="en-US" altLang="en-US" dirty="0"/>
              <a:t>Believability: how trustable the data are correct?</a:t>
            </a:r>
          </a:p>
          <a:p>
            <a:pPr lvl="1">
              <a:lnSpc>
                <a:spcPct val="140000"/>
              </a:lnSpc>
            </a:pPr>
            <a:r>
              <a:rPr lang="en-US" altLang="en-US" dirty="0"/>
              <a:t>Interpretability: how easily the data can be understood?</a:t>
            </a:r>
          </a:p>
          <a:p>
            <a:endParaRPr lang="en-IN" dirty="0"/>
          </a:p>
        </p:txBody>
      </p:sp>
    </p:spTree>
    <p:extLst>
      <p:ext uri="{BB962C8B-B14F-4D97-AF65-F5344CB8AC3E}">
        <p14:creationId xmlns:p14="http://schemas.microsoft.com/office/powerpoint/2010/main" val="28049271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Major Tasks in Data Preprocessing</a:t>
            </a:r>
            <a:endParaRPr lang="en-IN" dirty="0"/>
          </a:p>
        </p:txBody>
      </p:sp>
      <p:sp>
        <p:nvSpPr>
          <p:cNvPr id="3" name="Content Placeholder 2"/>
          <p:cNvSpPr>
            <a:spLocks noGrp="1"/>
          </p:cNvSpPr>
          <p:nvPr>
            <p:ph idx="1"/>
          </p:nvPr>
        </p:nvSpPr>
        <p:spPr/>
        <p:txBody>
          <a:bodyPr>
            <a:noAutofit/>
          </a:bodyPr>
          <a:lstStyle/>
          <a:p>
            <a:pPr>
              <a:lnSpc>
                <a:spcPct val="120000"/>
              </a:lnSpc>
            </a:pPr>
            <a:r>
              <a:rPr lang="en-US" altLang="en-US" sz="2000" b="1" dirty="0"/>
              <a:t>Data cleaning</a:t>
            </a:r>
          </a:p>
          <a:p>
            <a:pPr lvl="1">
              <a:lnSpc>
                <a:spcPct val="120000"/>
              </a:lnSpc>
            </a:pPr>
            <a:r>
              <a:rPr lang="en-US" altLang="en-US" sz="2000" dirty="0"/>
              <a:t>Fill in missing values, smooth noisy data, identify or remove outliers, and resolve inconsistencies</a:t>
            </a:r>
          </a:p>
          <a:p>
            <a:pPr>
              <a:lnSpc>
                <a:spcPct val="120000"/>
              </a:lnSpc>
            </a:pPr>
            <a:r>
              <a:rPr lang="en-US" altLang="en-US" sz="2000" b="1" dirty="0"/>
              <a:t>Data integration</a:t>
            </a:r>
          </a:p>
          <a:p>
            <a:pPr lvl="1">
              <a:lnSpc>
                <a:spcPct val="120000"/>
              </a:lnSpc>
            </a:pPr>
            <a:r>
              <a:rPr lang="en-US" altLang="en-US" sz="2000" dirty="0"/>
              <a:t>Integration of multiple databases, data cubes, or files</a:t>
            </a:r>
          </a:p>
          <a:p>
            <a:pPr>
              <a:lnSpc>
                <a:spcPct val="120000"/>
              </a:lnSpc>
            </a:pPr>
            <a:r>
              <a:rPr lang="en-US" altLang="en-US" sz="2000" b="1" dirty="0"/>
              <a:t>Data reduction</a:t>
            </a:r>
          </a:p>
          <a:p>
            <a:pPr lvl="1">
              <a:lnSpc>
                <a:spcPct val="120000"/>
              </a:lnSpc>
            </a:pPr>
            <a:r>
              <a:rPr lang="en-US" altLang="en-US" sz="2000" dirty="0"/>
              <a:t>Dimensionality reduction</a:t>
            </a:r>
          </a:p>
          <a:p>
            <a:pPr lvl="1">
              <a:lnSpc>
                <a:spcPct val="120000"/>
              </a:lnSpc>
            </a:pPr>
            <a:r>
              <a:rPr lang="en-US" altLang="en-US" sz="2000" dirty="0" err="1"/>
              <a:t>Numerosity</a:t>
            </a:r>
            <a:r>
              <a:rPr lang="en-US" altLang="en-US" sz="2000" dirty="0"/>
              <a:t> reduction</a:t>
            </a:r>
          </a:p>
          <a:p>
            <a:pPr lvl="1">
              <a:lnSpc>
                <a:spcPct val="120000"/>
              </a:lnSpc>
            </a:pPr>
            <a:r>
              <a:rPr lang="en-US" altLang="en-US" sz="2000" dirty="0"/>
              <a:t>Data compression</a:t>
            </a:r>
          </a:p>
          <a:p>
            <a:pPr>
              <a:lnSpc>
                <a:spcPct val="120000"/>
              </a:lnSpc>
            </a:pPr>
            <a:r>
              <a:rPr lang="en-US" altLang="en-US" sz="2000" b="1" dirty="0"/>
              <a:t>Data transformation and data discretization</a:t>
            </a:r>
          </a:p>
          <a:p>
            <a:pPr lvl="1">
              <a:lnSpc>
                <a:spcPct val="120000"/>
              </a:lnSpc>
            </a:pPr>
            <a:r>
              <a:rPr lang="en-US" altLang="en-US" sz="2000" dirty="0"/>
              <a:t>Normalization </a:t>
            </a:r>
          </a:p>
          <a:p>
            <a:pPr lvl="1">
              <a:lnSpc>
                <a:spcPct val="120000"/>
              </a:lnSpc>
            </a:pPr>
            <a:r>
              <a:rPr lang="en-US" altLang="en-US" sz="2000" dirty="0"/>
              <a:t>Concept hierarchy </a:t>
            </a:r>
            <a:r>
              <a:rPr lang="en-US" altLang="en-US" sz="2000" dirty="0" smtClean="0"/>
              <a:t>generation</a:t>
            </a:r>
            <a:endParaRPr lang="en-US" altLang="en-US" sz="2000" dirty="0"/>
          </a:p>
        </p:txBody>
      </p:sp>
    </p:spTree>
    <p:extLst>
      <p:ext uri="{BB962C8B-B14F-4D97-AF65-F5344CB8AC3E}">
        <p14:creationId xmlns:p14="http://schemas.microsoft.com/office/powerpoint/2010/main" val="2091921871"/>
      </p:ext>
    </p:extLst>
  </p:cSld>
  <p:clrMapOvr>
    <a:masterClrMapping/>
  </p:clrMapOvr>
</p:sld>
</file>

<file path=ppt/theme/theme1.xml><?xml version="1.0" encoding="utf-8"?>
<a:theme xmlns:a="http://schemas.openxmlformats.org/drawingml/2006/main" name="Theme1">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8BBF9E81-D9B7-427B-AD1E-55950D4BA3CD}" vid="{961BB4CA-5646-4530-B322-2527243E70B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1320</TotalTime>
  <Words>2509</Words>
  <Application>Microsoft Office PowerPoint</Application>
  <PresentationFormat>Widescreen</PresentationFormat>
  <Paragraphs>291</Paragraphs>
  <Slides>48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48</vt:i4>
      </vt:variant>
    </vt:vector>
  </HeadingPairs>
  <TitlesOfParts>
    <vt:vector size="56" baseType="lpstr">
      <vt:lpstr>Arial</vt:lpstr>
      <vt:lpstr>Calibri</vt:lpstr>
      <vt:lpstr>Google Sans</vt:lpstr>
      <vt:lpstr>Monotype Sorts</vt:lpstr>
      <vt:lpstr>Tahoma</vt:lpstr>
      <vt:lpstr>Times New Roman</vt:lpstr>
      <vt:lpstr>Verdana</vt:lpstr>
      <vt:lpstr>Theme1</vt:lpstr>
      <vt:lpstr>Content </vt:lpstr>
      <vt:lpstr>An Internet One Minute : 2025 </vt:lpstr>
      <vt:lpstr>Annual Growth Rate</vt:lpstr>
      <vt:lpstr>The Information Age is Here!</vt:lpstr>
      <vt:lpstr>Evolution of Sciences</vt:lpstr>
      <vt:lpstr>Basic Terminology</vt:lpstr>
      <vt:lpstr>Data leads to Knowledge leads to Understanding</vt:lpstr>
      <vt:lpstr>Example</vt:lpstr>
      <vt:lpstr>Traditional Programming Vs Machine Learning </vt:lpstr>
      <vt:lpstr>Traditional Programming Vs Machine Learning </vt:lpstr>
      <vt:lpstr>Types of Data</vt:lpstr>
      <vt:lpstr>PowerPoint Presentation</vt:lpstr>
      <vt:lpstr>PowerPoint Presentation</vt:lpstr>
      <vt:lpstr>PowerPoint Presentation</vt:lpstr>
      <vt:lpstr>Data Analysis</vt:lpstr>
      <vt:lpstr>Data Analytics </vt:lpstr>
      <vt:lpstr>Application of Data Analytics</vt:lpstr>
      <vt:lpstr>Types of Data Analytics</vt:lpstr>
      <vt:lpstr>Types of Data Analytics</vt:lpstr>
      <vt:lpstr>What is Data Science?</vt:lpstr>
      <vt:lpstr>Data Science is Multidisciplinary </vt:lpstr>
      <vt:lpstr>Where is Data Science Needed?</vt:lpstr>
      <vt:lpstr>Data Science Lifecycle</vt:lpstr>
      <vt:lpstr>Step 1: Understand the Business</vt:lpstr>
      <vt:lpstr>Step 2: Get Your Data</vt:lpstr>
      <vt:lpstr>Step 3: Explore and Clean Your Data</vt:lpstr>
      <vt:lpstr>Step 4: Enrich Your Dataset</vt:lpstr>
      <vt:lpstr>Step 5: Build Helpful Visualizations</vt:lpstr>
      <vt:lpstr>Step 6: Get Predictive</vt:lpstr>
      <vt:lpstr>Step 7: Iterate, Iterate, Iterate</vt:lpstr>
      <vt:lpstr>Roles in Data Science</vt:lpstr>
      <vt:lpstr>Roles in Data Science</vt:lpstr>
      <vt:lpstr>Roles in Data Science</vt:lpstr>
      <vt:lpstr>Roles in Data Science</vt:lpstr>
      <vt:lpstr>Roles in Data Science</vt:lpstr>
      <vt:lpstr>Challenges in Data Science</vt:lpstr>
      <vt:lpstr>Types of Data Sets </vt:lpstr>
      <vt:lpstr>Data Objects</vt:lpstr>
      <vt:lpstr>Attributes</vt:lpstr>
      <vt:lpstr>Attribute Types </vt:lpstr>
      <vt:lpstr>Numeric Attribute Types </vt:lpstr>
      <vt:lpstr>Discrete vs. Continuous Attributes </vt:lpstr>
      <vt:lpstr> Dimensionality </vt:lpstr>
      <vt:lpstr>Sparsity</vt:lpstr>
      <vt:lpstr>Resolution</vt:lpstr>
      <vt:lpstr>Distribution</vt:lpstr>
      <vt:lpstr>Data Quality: Why Preprocess the Data?</vt:lpstr>
      <vt:lpstr>Major Tasks in Data Preprocessing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Charusat</dc:creator>
  <cp:lastModifiedBy>CHARUSAT</cp:lastModifiedBy>
  <cp:revision>54</cp:revision>
  <dcterms:created xsi:type="dcterms:W3CDTF">2025-11-10T09:48:59Z</dcterms:created>
  <dcterms:modified xsi:type="dcterms:W3CDTF">2026-02-25T07:44:56Z</dcterms:modified>
</cp:coreProperties>
</file>